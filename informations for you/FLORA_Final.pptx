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94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1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622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391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77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443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137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572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5277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689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668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418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0099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25344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811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0022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7911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64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4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l" defTabSz="342900" rtl="1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57175" indent="-257175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cover.jpg"/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" name="Shap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51576" y="-1152144"/>
            <a:ext cx="4754880" cy="3566160"/>
          </a:xfrm>
          <a:prstGeom prst="ellipse">
            <a:avLst/>
          </a:prstGeom>
          <a:solidFill>
            <a:srgbClr val="3E6649">
              <a:alpha val="13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36285" y="-1017727"/>
            <a:ext cx="4352544" cy="3264408"/>
          </a:xfrm>
          <a:prstGeom prst="ellipse">
            <a:avLst/>
          </a:prstGeom>
          <a:solidFill>
            <a:srgbClr val="3E6649">
              <a:alpha val="16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0994" y="-883310"/>
            <a:ext cx="3950208" cy="2962656"/>
          </a:xfrm>
          <a:prstGeom prst="ellipse">
            <a:avLst/>
          </a:prstGeom>
          <a:solidFill>
            <a:srgbClr val="3E6649">
              <a:alpha val="19000"/>
            </a:srgbClr>
          </a:solidFill>
          <a:ln w="12700">
            <a:solidFill>
              <a:srgbClr val="3E6649">
                <a:alpha val="3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5702" y="-748894"/>
            <a:ext cx="3547872" cy="2660904"/>
          </a:xfrm>
          <a:prstGeom prst="ellipse">
            <a:avLst/>
          </a:prstGeom>
          <a:solidFill>
            <a:srgbClr val="3E6649">
              <a:alpha val="22000"/>
            </a:srgbClr>
          </a:solidFill>
          <a:ln w="12700">
            <a:solidFill>
              <a:srgbClr val="3E6649">
                <a:alpha val="3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0411" y="-614477"/>
            <a:ext cx="3145536" cy="2359152"/>
          </a:xfrm>
          <a:prstGeom prst="ellipse">
            <a:avLst/>
          </a:prstGeom>
          <a:solidFill>
            <a:srgbClr val="3E6649">
              <a:alpha val="25000"/>
            </a:srgbClr>
          </a:solidFill>
          <a:ln w="12700">
            <a:solidFill>
              <a:srgbClr val="3E6649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-480060"/>
            <a:ext cx="2743200" cy="2057400"/>
          </a:xfrm>
          <a:prstGeom prst="ellipse">
            <a:avLst/>
          </a:prstGeom>
          <a:solidFill>
            <a:srgbClr val="3E6649">
              <a:alpha val="28000"/>
            </a:srgbClr>
          </a:solidFill>
          <a:ln w="12700">
            <a:solidFill>
              <a:srgbClr val="3E6649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-1200000">
            <a:off x="-457200" y="3840480"/>
            <a:ext cx="2286000" cy="822960"/>
          </a:xfrm>
          <a:prstGeom prst="ellipse">
            <a:avLst/>
          </a:prstGeom>
          <a:solidFill>
            <a:srgbClr val="1E3D24">
              <a:alpha val="48000"/>
            </a:srgbClr>
          </a:solidFill>
          <a:ln w="12700">
            <a:solidFill>
              <a:srgbClr val="1E3D24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-2280000">
            <a:off x="-182880" y="4206240"/>
            <a:ext cx="1737360" cy="640080"/>
          </a:xfrm>
          <a:prstGeom prst="ellipse">
            <a:avLst/>
          </a:prstGeom>
          <a:solidFill>
            <a:srgbClr val="3E6649">
              <a:alpha val="40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-3300000">
            <a:off x="457200" y="4572000"/>
            <a:ext cx="1280160" cy="457200"/>
          </a:xfrm>
          <a:prstGeom prst="ellipse">
            <a:avLst/>
          </a:prstGeom>
          <a:solidFill>
            <a:srgbClr val="6E9B7A">
              <a:alpha val="32000"/>
            </a:srgbClr>
          </a:solidFill>
          <a:ln w="12700">
            <a:solidFill>
              <a:srgbClr val="6E9B7A">
                <a:alpha val="2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502920"/>
            <a:ext cx="36576" cy="374904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" y="438912"/>
            <a:ext cx="182880" cy="182880"/>
          </a:xfrm>
          <a:prstGeom prst="ellipse">
            <a:avLst/>
          </a:prstGeom>
          <a:solidFill>
            <a:srgbClr val="C9A84C">
              <a:alpha val="9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08200" y="425196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kern="0" spc="1400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</a:t>
            </a:r>
            <a:endParaRPr lang="en-US" sz="9600" b="1" dirty="0"/>
          </a:p>
        </p:txBody>
      </p:sp>
      <p:sp>
        <p:nvSpPr>
          <p:cNvPr id="17" name="Text 14"/>
          <p:cNvSpPr/>
          <p:nvPr/>
        </p:nvSpPr>
        <p:spPr>
          <a:xfrm>
            <a:off x="621792" y="21762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Agricultural Assistant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1792" y="2596896"/>
            <a:ext cx="3474720" cy="34747"/>
          </a:xfrm>
          <a:prstGeom prst="rect">
            <a:avLst/>
          </a:prstGeom>
          <a:solidFill>
            <a:srgbClr val="C9A84C">
              <a:alpha val="7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2596896"/>
            <a:ext cx="201168" cy="34747"/>
          </a:xfrm>
          <a:prstGeom prst="rect">
            <a:avLst/>
          </a:prstGeom>
          <a:solidFill>
            <a:srgbClr val="C9A84C">
              <a:alpha val="9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70662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 —  Helwan University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" y="303212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Computer Science Department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1792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Nadia Abdelsamea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3749040"/>
            <a:ext cx="8321040" cy="9601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3749040"/>
            <a:ext cx="45720" cy="96012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3749040"/>
            <a:ext cx="832104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8587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94360" y="407822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Fouad Ibrahim   </a:t>
            </a: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Sayed Saeed Ali  </a:t>
            </a: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Mahdy Mohamed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594360" y="431596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Seif El Din Hamouda Kamel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Ahmed Walid Soliman   </a:t>
            </a: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Eissa Abdel Monem</a:t>
            </a:r>
            <a:endParaRPr lang="en-US" sz="1400" dirty="0">
              <a:solidFill>
                <a:schemeClr val="accent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08312CC-5ADA-742D-8410-97870063C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702" y="-269144"/>
            <a:ext cx="1240756" cy="15516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ADBD14-2910-F8E2-3FDA-DE0AF881C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5791" y="63087"/>
            <a:ext cx="1065377" cy="106776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0FE74F3-2002-3765-C0A8-06129F85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" y="798467"/>
            <a:ext cx="1109666" cy="1109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54864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828800"/>
            <a:ext cx="6400800" cy="4572000"/>
          </a:xfrm>
          <a:prstGeom prst="ellipse">
            <a:avLst/>
          </a:prstGeom>
          <a:solidFill>
            <a:srgbClr val="100600">
              <a:alpha val="72000"/>
            </a:srgbClr>
          </a:solidFill>
          <a:ln w="12700">
            <a:solidFill>
              <a:srgbClr val="1006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Image 0" descr="/home/claude/imgs/disease.jpg"/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0" y="24107"/>
            <a:ext cx="91440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13570"/>
            <a:ext cx="9144000" cy="51435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ar-SA" dirty="0"/>
          </a:p>
        </p:txBody>
      </p:sp>
      <p:sp>
        <p:nvSpPr>
          <p:cNvPr id="9" name="Shape 6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7A2E10">
              <a:alpha val="32000"/>
            </a:srgbClr>
          </a:solidFill>
          <a:ln w="12700">
            <a:solidFill>
              <a:srgbClr val="7A2E10">
                <a:alpha val="2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7A2E10">
              <a:alpha val="26000"/>
            </a:srgbClr>
          </a:solidFill>
          <a:ln w="12700">
            <a:solidFill>
              <a:srgbClr val="7A2E10">
                <a:alpha val="1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939535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11153" y="7683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THE CHALLENGE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8328" y="124271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439032" y="702872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17" name="Shape 14"/>
          <p:cNvSpPr/>
          <p:nvPr/>
        </p:nvSpPr>
        <p:spPr>
          <a:xfrm>
            <a:off x="404902" y="939400"/>
            <a:ext cx="2651760" cy="3291840"/>
          </a:xfrm>
          <a:prstGeom prst="rect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18" name="Shape 15"/>
          <p:cNvSpPr/>
          <p:nvPr/>
        </p:nvSpPr>
        <p:spPr>
          <a:xfrm>
            <a:off x="404902" y="939400"/>
            <a:ext cx="45720" cy="329184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Shape 16"/>
          <p:cNvSpPr/>
          <p:nvPr/>
        </p:nvSpPr>
        <p:spPr>
          <a:xfrm>
            <a:off x="404902" y="939400"/>
            <a:ext cx="2651760" cy="3657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Text 17"/>
          <p:cNvSpPr/>
          <p:nvPr/>
        </p:nvSpPr>
        <p:spPr>
          <a:xfrm>
            <a:off x="496342" y="1023936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200" dirty="0">
              <a:solidFill>
                <a:schemeClr val="accent2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2062" y="18201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571500" y="2527184"/>
            <a:ext cx="2423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struggle to identify plant diseases early, often noticing damage only after significant crop loss.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193822" y="939400"/>
            <a:ext cx="2651760" cy="329184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24" name="Shape 21"/>
          <p:cNvSpPr/>
          <p:nvPr/>
        </p:nvSpPr>
        <p:spPr>
          <a:xfrm>
            <a:off x="3193822" y="939400"/>
            <a:ext cx="45720" cy="329184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Shape 22"/>
          <p:cNvSpPr/>
          <p:nvPr/>
        </p:nvSpPr>
        <p:spPr>
          <a:xfrm>
            <a:off x="3193822" y="939400"/>
            <a:ext cx="2651760" cy="3657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Text 23"/>
          <p:cNvSpPr/>
          <p:nvPr/>
        </p:nvSpPr>
        <p:spPr>
          <a:xfrm>
            <a:off x="3285262" y="1023936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200" dirty="0">
              <a:solidFill>
                <a:schemeClr val="accent2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3330982" y="18201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ACCESS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53842" y="2527184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specialists are scarce, expensive, and rarely available in rural farming communities.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5982742" y="939400"/>
            <a:ext cx="2651760" cy="329184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30" name="Shape 27"/>
          <p:cNvSpPr/>
          <p:nvPr/>
        </p:nvSpPr>
        <p:spPr>
          <a:xfrm>
            <a:off x="5982742" y="939400"/>
            <a:ext cx="45720" cy="329184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Shape 28"/>
          <p:cNvSpPr/>
          <p:nvPr/>
        </p:nvSpPr>
        <p:spPr>
          <a:xfrm>
            <a:off x="5982742" y="939400"/>
            <a:ext cx="2651760" cy="3657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Text 29"/>
          <p:cNvSpPr/>
          <p:nvPr/>
        </p:nvSpPr>
        <p:spPr>
          <a:xfrm>
            <a:off x="6074182" y="1023936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200" dirty="0">
              <a:solidFill>
                <a:schemeClr val="accent2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6119902" y="18201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SOLUTIONS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6061026" y="2523234"/>
            <a:ext cx="252763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use technical jargon, require expensive hardware, or lack Arabic language support.</a:t>
            </a: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397204" y="4373071"/>
            <a:ext cx="8220456" cy="43891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36" name="Shape 33"/>
          <p:cNvSpPr/>
          <p:nvPr/>
        </p:nvSpPr>
        <p:spPr>
          <a:xfrm>
            <a:off x="397204" y="4373071"/>
            <a:ext cx="45719" cy="438912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Text 34"/>
          <p:cNvSpPr/>
          <p:nvPr/>
        </p:nvSpPr>
        <p:spPr>
          <a:xfrm>
            <a:off x="440918" y="4459659"/>
            <a:ext cx="7983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crop diagnosis destroys yields, livelihoods, and food security — FLORA was built to change that.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438912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33059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433059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408935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424281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0" y="419892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93953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8999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78590" y="123677"/>
            <a:ext cx="8476291" cy="669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FLORA?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490090" y="743694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1" name="Text 28"/>
          <p:cNvSpPr/>
          <p:nvPr/>
        </p:nvSpPr>
        <p:spPr>
          <a:xfrm>
            <a:off x="372338" y="875735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plant disease detection and Arabic treatment guidance system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11480" y="1217730"/>
            <a:ext cx="4212818" cy="73152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33" name="Shape 30"/>
          <p:cNvSpPr/>
          <p:nvPr/>
        </p:nvSpPr>
        <p:spPr>
          <a:xfrm>
            <a:off x="411480" y="1217730"/>
            <a:ext cx="45720" cy="73152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4" name="Shape 31"/>
          <p:cNvSpPr/>
          <p:nvPr/>
        </p:nvSpPr>
        <p:spPr>
          <a:xfrm>
            <a:off x="411480" y="1217730"/>
            <a:ext cx="4212818" cy="3657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2"/>
          <p:cNvSpPr/>
          <p:nvPr/>
        </p:nvSpPr>
        <p:spPr>
          <a:xfrm>
            <a:off x="503520" y="130002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50" dirty="0">
              <a:solidFill>
                <a:schemeClr val="accent2"/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503520" y="154109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plant diseases from leaf images using Deep Learning &amp; CNN</a:t>
            </a: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1480" y="2022402"/>
            <a:ext cx="4212818" cy="73152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1"/>
          </a:fontRef>
        </p:style>
      </p:sp>
      <p:sp>
        <p:nvSpPr>
          <p:cNvPr id="38" name="Shape 35"/>
          <p:cNvSpPr/>
          <p:nvPr/>
        </p:nvSpPr>
        <p:spPr>
          <a:xfrm>
            <a:off x="411480" y="2022402"/>
            <a:ext cx="45720" cy="73152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9" name="Shape 36"/>
          <p:cNvSpPr/>
          <p:nvPr/>
        </p:nvSpPr>
        <p:spPr>
          <a:xfrm>
            <a:off x="411480" y="2022402"/>
            <a:ext cx="4212818" cy="3657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0" name="Text 37"/>
          <p:cNvSpPr/>
          <p:nvPr/>
        </p:nvSpPr>
        <p:spPr>
          <a:xfrm>
            <a:off x="503520" y="210469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AI CHATBOT</a:t>
            </a:r>
            <a:endParaRPr lang="en-US" sz="1150" dirty="0">
              <a:solidFill>
                <a:schemeClr val="accent2"/>
              </a:solidFill>
            </a:endParaRPr>
          </a:p>
        </p:txBody>
      </p:sp>
      <p:sp>
        <p:nvSpPr>
          <p:cNvPr id="41" name="Text 38"/>
          <p:cNvSpPr/>
          <p:nvPr/>
        </p:nvSpPr>
        <p:spPr>
          <a:xfrm>
            <a:off x="503520" y="234577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intelligent treatment guidance in natural Arabic language.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1480" y="2827074"/>
            <a:ext cx="4212818" cy="7315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827074"/>
            <a:ext cx="45720" cy="73152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2827074"/>
            <a:ext cx="421281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3520" y="290937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DIAGNOSIS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03520" y="315044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— get an instant AI-powered diagnosis.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11480" y="3631746"/>
            <a:ext cx="4212818" cy="7315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3631746"/>
            <a:ext cx="45720" cy="73152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3631746"/>
            <a:ext cx="421281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3520" y="371404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FRIENDLY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503520" y="395511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interface built for everyday agricultural users.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852160" y="2469577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57345" y="4528774"/>
            <a:ext cx="1965960" cy="347472"/>
          </a:xfrm>
          <a:prstGeom prst="rect">
            <a:avLst/>
          </a:prstGeom>
          <a:solidFill>
            <a:srgbClr val="1E3D24">
              <a:alpha val="85000"/>
            </a:srgbClr>
          </a:solidFill>
          <a:ln w="12700">
            <a:solidFill>
              <a:srgbClr val="6E9B7A">
                <a:alpha val="45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8785" y="458363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4" name="Shape 61"/>
          <p:cNvSpPr/>
          <p:nvPr/>
        </p:nvSpPr>
        <p:spPr>
          <a:xfrm>
            <a:off x="2660465" y="4528774"/>
            <a:ext cx="1965960" cy="347472"/>
          </a:xfrm>
          <a:prstGeom prst="rect">
            <a:avLst/>
          </a:prstGeom>
          <a:solidFill>
            <a:srgbClr val="1E3D24">
              <a:alpha val="85000"/>
            </a:srgbClr>
          </a:solidFill>
          <a:ln w="12700">
            <a:solidFill>
              <a:srgbClr val="6E9B7A">
                <a:alpha val="45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751905" y="458363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6" name="Shape 63"/>
          <p:cNvSpPr/>
          <p:nvPr/>
        </p:nvSpPr>
        <p:spPr>
          <a:xfrm>
            <a:off x="4763585" y="4528774"/>
            <a:ext cx="1965960" cy="347472"/>
          </a:xfrm>
          <a:prstGeom prst="rect">
            <a:avLst/>
          </a:prstGeom>
          <a:solidFill>
            <a:srgbClr val="1E3D24">
              <a:alpha val="85000"/>
            </a:srgbClr>
          </a:solidFill>
          <a:ln w="12700">
            <a:solidFill>
              <a:srgbClr val="6E9B7A">
                <a:alpha val="45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55025" y="458363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Diagnosis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8" name="Shape 65"/>
          <p:cNvSpPr/>
          <p:nvPr/>
        </p:nvSpPr>
        <p:spPr>
          <a:xfrm>
            <a:off x="6866705" y="4528774"/>
            <a:ext cx="1965960" cy="347472"/>
          </a:xfrm>
          <a:prstGeom prst="rect">
            <a:avLst/>
          </a:prstGeom>
          <a:solidFill>
            <a:srgbClr val="1E3D24">
              <a:alpha val="85000"/>
            </a:srgbClr>
          </a:solidFill>
          <a:ln w="12700">
            <a:solidFill>
              <a:srgbClr val="6E9B7A">
                <a:alpha val="45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958145" y="458363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</a:t>
            </a:r>
            <a:endParaRPr lang="en-US" sz="11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pic>
        <p:nvPicPr>
          <p:cNvPr id="6" name="Image 0" descr="/home/claude/imgs/seedling.jpg"/>
          <p:cNvPicPr>
            <a:picLocks noChangeAspect="1"/>
          </p:cNvPicPr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6858000" y="0"/>
            <a:ext cx="2286000" cy="51435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459028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459028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3080" y="453542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83080" y="453542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68880" y="448056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68880" y="448056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54680" y="442569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54680" y="442569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49040" y="437814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437814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6240" y="434157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434157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92520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THE SOLUTION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76189" y="198777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FLORA Solves It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836092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1" name="Text 28"/>
          <p:cNvSpPr/>
          <p:nvPr/>
        </p:nvSpPr>
        <p:spPr>
          <a:xfrm>
            <a:off x="297911" y="1170307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intelligent pipeline from leaf photo to treatment plan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80359" y="1510210"/>
            <a:ext cx="1481328" cy="2626477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80359" y="1510210"/>
            <a:ext cx="45720" cy="2626477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0359" y="1510210"/>
            <a:ext cx="148132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2778" y="1660987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650937" y="2461371"/>
            <a:ext cx="1042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532041" y="3038245"/>
            <a:ext cx="12596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plant leaf image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536192" y="0"/>
            <a:ext cx="109728" cy="0"/>
          </a:xfrm>
          <a:prstGeom prst="line">
            <a:avLst/>
          </a:prstGeom>
          <a:noFill/>
          <a:ln w="19050">
            <a:solidFill>
              <a:srgbClr val="6E9B7A">
                <a:alpha val="6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34640" y="0"/>
            <a:ext cx="109728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33088" y="0"/>
            <a:ext cx="109728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431536" y="0"/>
            <a:ext cx="109728" cy="0"/>
          </a:xfrm>
          <a:prstGeom prst="line">
            <a:avLst/>
          </a:prstGeom>
          <a:noFill/>
          <a:ln w="19050">
            <a:solidFill>
              <a:srgbClr val="E2C97A">
                <a:alpha val="60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92068" y="4377789"/>
            <a:ext cx="1514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Fast Diagnosis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2005384" y="4377789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Easy Interaction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3735083" y="4383804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Arabic Support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5603427" y="4377789"/>
            <a:ext cx="14196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User-Friendly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429061" y="4384666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Accessible</a:t>
            </a:r>
            <a:endParaRPr lang="en-US" sz="1400" dirty="0"/>
          </a:p>
        </p:txBody>
      </p:sp>
      <p:sp>
        <p:nvSpPr>
          <p:cNvPr id="92" name="Shape 29">
            <a:extLst>
              <a:ext uri="{FF2B5EF4-FFF2-40B4-BE49-F238E27FC236}">
                <a16:creationId xmlns:a16="http://schemas.microsoft.com/office/drawing/2014/main" id="{C10909DA-5C1E-81F6-6087-9E7C39566987}"/>
              </a:ext>
            </a:extLst>
          </p:cNvPr>
          <p:cNvSpPr/>
          <p:nvPr/>
        </p:nvSpPr>
        <p:spPr>
          <a:xfrm>
            <a:off x="3783635" y="1510779"/>
            <a:ext cx="1481328" cy="262590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77CDBB88-8BFD-DB22-518E-0C43722609EE}"/>
              </a:ext>
            </a:extLst>
          </p:cNvPr>
          <p:cNvSpPr/>
          <p:nvPr/>
        </p:nvSpPr>
        <p:spPr>
          <a:xfrm>
            <a:off x="2078779" y="1510779"/>
            <a:ext cx="1481328" cy="262590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81" name="Shape 30">
            <a:extLst>
              <a:ext uri="{FF2B5EF4-FFF2-40B4-BE49-F238E27FC236}">
                <a16:creationId xmlns:a16="http://schemas.microsoft.com/office/drawing/2014/main" id="{4736E4C6-9EBC-FD1D-F804-6C6898642E43}"/>
              </a:ext>
            </a:extLst>
          </p:cNvPr>
          <p:cNvSpPr/>
          <p:nvPr/>
        </p:nvSpPr>
        <p:spPr>
          <a:xfrm>
            <a:off x="2078779" y="1510779"/>
            <a:ext cx="45720" cy="2625908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53206B4C-6878-BD27-2AA4-F4F17232A2C3}"/>
              </a:ext>
            </a:extLst>
          </p:cNvPr>
          <p:cNvSpPr/>
          <p:nvPr/>
        </p:nvSpPr>
        <p:spPr>
          <a:xfrm>
            <a:off x="2078779" y="1510779"/>
            <a:ext cx="148132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93" name="Shape 30">
            <a:extLst>
              <a:ext uri="{FF2B5EF4-FFF2-40B4-BE49-F238E27FC236}">
                <a16:creationId xmlns:a16="http://schemas.microsoft.com/office/drawing/2014/main" id="{6BB6F6B4-FEA1-2647-60BA-7277ED357F61}"/>
              </a:ext>
            </a:extLst>
          </p:cNvPr>
          <p:cNvSpPr/>
          <p:nvPr/>
        </p:nvSpPr>
        <p:spPr>
          <a:xfrm>
            <a:off x="3783635" y="1510779"/>
            <a:ext cx="45720" cy="2625908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94" name="Shape 31">
            <a:extLst>
              <a:ext uri="{FF2B5EF4-FFF2-40B4-BE49-F238E27FC236}">
                <a16:creationId xmlns:a16="http://schemas.microsoft.com/office/drawing/2014/main" id="{FCA439A0-9372-EED1-4DB7-78DD420A0D89}"/>
              </a:ext>
            </a:extLst>
          </p:cNvPr>
          <p:cNvSpPr/>
          <p:nvPr/>
        </p:nvSpPr>
        <p:spPr>
          <a:xfrm>
            <a:off x="3783635" y="1510779"/>
            <a:ext cx="148132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5988570F-8748-8842-94A4-05AE18A3F6AB}"/>
              </a:ext>
            </a:extLst>
          </p:cNvPr>
          <p:cNvSpPr/>
          <p:nvPr/>
        </p:nvSpPr>
        <p:spPr>
          <a:xfrm>
            <a:off x="5546202" y="1535225"/>
            <a:ext cx="1481328" cy="2600189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D8F6BADC-1B48-0509-1142-EB3428739555}"/>
              </a:ext>
            </a:extLst>
          </p:cNvPr>
          <p:cNvSpPr/>
          <p:nvPr/>
        </p:nvSpPr>
        <p:spPr>
          <a:xfrm>
            <a:off x="5540405" y="1510779"/>
            <a:ext cx="45720" cy="2624635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4BEAD2C6-36D0-69FE-E3BC-541792735D7B}"/>
              </a:ext>
            </a:extLst>
          </p:cNvPr>
          <p:cNvSpPr/>
          <p:nvPr/>
        </p:nvSpPr>
        <p:spPr>
          <a:xfrm>
            <a:off x="5540405" y="1510779"/>
            <a:ext cx="148132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A3F5A1F4-8F05-4A77-C2E4-BB247D858184}"/>
              </a:ext>
            </a:extLst>
          </p:cNvPr>
          <p:cNvSpPr/>
          <p:nvPr/>
        </p:nvSpPr>
        <p:spPr>
          <a:xfrm>
            <a:off x="7281993" y="1510779"/>
            <a:ext cx="1481328" cy="2624635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99" name="Shape 30">
            <a:extLst>
              <a:ext uri="{FF2B5EF4-FFF2-40B4-BE49-F238E27FC236}">
                <a16:creationId xmlns:a16="http://schemas.microsoft.com/office/drawing/2014/main" id="{5997CABF-7477-57BA-EF6A-FC361DB22342}"/>
              </a:ext>
            </a:extLst>
          </p:cNvPr>
          <p:cNvSpPr/>
          <p:nvPr/>
        </p:nvSpPr>
        <p:spPr>
          <a:xfrm>
            <a:off x="7281993" y="1510779"/>
            <a:ext cx="45720" cy="2624635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100" name="Shape 31">
            <a:extLst>
              <a:ext uri="{FF2B5EF4-FFF2-40B4-BE49-F238E27FC236}">
                <a16:creationId xmlns:a16="http://schemas.microsoft.com/office/drawing/2014/main" id="{FFC51276-2B46-122B-37A8-6E5503DB7733}"/>
              </a:ext>
            </a:extLst>
          </p:cNvPr>
          <p:cNvSpPr/>
          <p:nvPr/>
        </p:nvSpPr>
        <p:spPr>
          <a:xfrm>
            <a:off x="7281993" y="1510779"/>
            <a:ext cx="1481328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349353" y="166302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2331065" y="2461371"/>
            <a:ext cx="1042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4" name="Text 41"/>
          <p:cNvSpPr/>
          <p:nvPr/>
        </p:nvSpPr>
        <p:spPr>
          <a:xfrm>
            <a:off x="2247789" y="3044271"/>
            <a:ext cx="120122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processes the image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072826" y="166302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50" name="Text 47"/>
          <p:cNvSpPr/>
          <p:nvPr/>
        </p:nvSpPr>
        <p:spPr>
          <a:xfrm>
            <a:off x="4056190" y="2467697"/>
            <a:ext cx="1042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1" name="Text 48"/>
          <p:cNvSpPr/>
          <p:nvPr/>
        </p:nvSpPr>
        <p:spPr>
          <a:xfrm>
            <a:off x="4003498" y="3036927"/>
            <a:ext cx="113065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identified instantly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5819663" y="165877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57" name="Text 54"/>
          <p:cNvSpPr/>
          <p:nvPr/>
        </p:nvSpPr>
        <p:spPr>
          <a:xfrm>
            <a:off x="5807562" y="2461371"/>
            <a:ext cx="1042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8" name="Text 55"/>
          <p:cNvSpPr/>
          <p:nvPr/>
        </p:nvSpPr>
        <p:spPr>
          <a:xfrm>
            <a:off x="5679897" y="3038245"/>
            <a:ext cx="12853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explains the condition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517236" y="1664496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64" name="Text 61"/>
          <p:cNvSpPr/>
          <p:nvPr/>
        </p:nvSpPr>
        <p:spPr>
          <a:xfrm>
            <a:off x="7499462" y="2457777"/>
            <a:ext cx="1042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5" name="Text 62"/>
          <p:cNvSpPr/>
          <p:nvPr/>
        </p:nvSpPr>
        <p:spPr>
          <a:xfrm>
            <a:off x="7418188" y="3044271"/>
            <a:ext cx="120681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 provided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ar-SA" dirty="0"/>
          </a:p>
        </p:txBody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51176" y="2894076"/>
            <a:ext cx="4206240" cy="3154680"/>
          </a:xfrm>
          <a:prstGeom prst="ellipse">
            <a:avLst/>
          </a:prstGeom>
          <a:solidFill>
            <a:srgbClr val="3E6649">
              <a:alpha val="3000"/>
            </a:srgbClr>
          </a:solidFill>
          <a:ln w="12700">
            <a:solidFill>
              <a:srgbClr val="3E6649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35885" y="3028493"/>
            <a:ext cx="3803904" cy="2852928"/>
          </a:xfrm>
          <a:prstGeom prst="ellipse">
            <a:avLst/>
          </a:prstGeom>
          <a:solidFill>
            <a:srgbClr val="3E6649">
              <a:alpha val="6000"/>
            </a:srgbClr>
          </a:solidFill>
          <a:ln w="12700">
            <a:solidFill>
              <a:srgbClr val="3E6649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0594" y="3162910"/>
            <a:ext cx="3401568" cy="2551176"/>
          </a:xfrm>
          <a:prstGeom prst="ellipse">
            <a:avLst/>
          </a:prstGeom>
          <a:solidFill>
            <a:srgbClr val="3E6649">
              <a:alpha val="9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5302" y="3297326"/>
            <a:ext cx="2999232" cy="2249424"/>
          </a:xfrm>
          <a:prstGeom prst="ellipse">
            <a:avLst/>
          </a:prstGeom>
          <a:solidFill>
            <a:srgbClr val="3E6649">
              <a:alpha val="12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0011" y="3431743"/>
            <a:ext cx="2596896" cy="1947672"/>
          </a:xfrm>
          <a:prstGeom prst="ellipse">
            <a:avLst/>
          </a:prstGeom>
          <a:solidFill>
            <a:srgbClr val="3E6649">
              <a:alpha val="15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3566160"/>
            <a:ext cx="2194560" cy="1645920"/>
          </a:xfrm>
          <a:prstGeom prst="ellipse">
            <a:avLst/>
          </a:prstGeom>
          <a:solidFill>
            <a:srgbClr val="3E6649">
              <a:alpha val="18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92637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SYSTEM ARCHITECTURE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4808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90693" y="814431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2" name="Text 20"/>
          <p:cNvSpPr/>
          <p:nvPr/>
        </p:nvSpPr>
        <p:spPr>
          <a:xfrm>
            <a:off x="384248" y="1124289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layers connected into one seamless real-world platform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227" y="1446068"/>
            <a:ext cx="1508760" cy="1572768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6E9B7A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227" y="1446068"/>
            <a:ext cx="1508760" cy="38405"/>
          </a:xfrm>
          <a:prstGeom prst="rect">
            <a:avLst/>
          </a:prstGeom>
          <a:solidFill>
            <a:srgbClr val="6E9B7A">
              <a:alpha val="82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79" y="16289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3379" y="204042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978987" y="2048256"/>
            <a:ext cx="173736" cy="0"/>
          </a:xfrm>
          <a:prstGeom prst="line">
            <a:avLst/>
          </a:prstGeom>
          <a:noFill/>
          <a:ln w="1905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5376" y="185623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52723" y="1446068"/>
            <a:ext cx="1508760" cy="1572768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2723" y="1446068"/>
            <a:ext cx="1508760" cy="38405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5875" y="16289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225875" y="204042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61483" y="2048256"/>
            <a:ext cx="173736" cy="0"/>
          </a:xfrm>
          <a:prstGeom prst="line">
            <a:avLst/>
          </a:prstGeom>
          <a:noFill/>
          <a:ln w="1905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185623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35219" y="1446068"/>
            <a:ext cx="1508760" cy="1572768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35219" y="1446068"/>
            <a:ext cx="1508760" cy="38405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29165" y="16289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908371" y="204042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43979" y="2048256"/>
            <a:ext cx="173736" cy="0"/>
          </a:xfrm>
          <a:prstGeom prst="line">
            <a:avLst/>
          </a:prstGeom>
          <a:noFill/>
          <a:ln w="1905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185623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17715" y="1446068"/>
            <a:ext cx="1508760" cy="1572768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E2C97A">
                <a:alpha val="6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17715" y="1446068"/>
            <a:ext cx="1508760" cy="38405"/>
          </a:xfrm>
          <a:prstGeom prst="rect">
            <a:avLst/>
          </a:prstGeom>
          <a:solidFill>
            <a:srgbClr val="E2C97A">
              <a:alpha val="82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0867" y="16289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590867" y="204042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26475" y="2048256"/>
            <a:ext cx="173736" cy="0"/>
          </a:xfrm>
          <a:prstGeom prst="line">
            <a:avLst/>
          </a:prstGeom>
          <a:noFill/>
          <a:ln w="1905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12864" y="185623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00211" y="1446068"/>
            <a:ext cx="1508760" cy="1572768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6E9B7A">
                <a:alpha val="6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00211" y="1446068"/>
            <a:ext cx="1508760" cy="38405"/>
          </a:xfrm>
          <a:prstGeom prst="rect">
            <a:avLst/>
          </a:prstGeom>
          <a:solidFill>
            <a:srgbClr val="6E9B7A">
              <a:alpha val="82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3363" y="16289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273363" y="204042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85374" y="3242635"/>
            <a:ext cx="2761488" cy="14173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5374" y="3242635"/>
            <a:ext cx="45720" cy="141732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5374" y="3242635"/>
            <a:ext cx="2761488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2534" y="3379795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422534" y="3745555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plant disease detection.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100958" y="3242635"/>
            <a:ext cx="2761488" cy="14173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8118" y="3379795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Platform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65" name="Text 63"/>
          <p:cNvSpPr/>
          <p:nvPr/>
        </p:nvSpPr>
        <p:spPr>
          <a:xfrm>
            <a:off x="6238118" y="3745555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CNN and chatbot seamlessly.</a:t>
            </a:r>
            <a:endParaRPr lang="en-US" sz="1400" dirty="0"/>
          </a:p>
        </p:txBody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A3474C34-51BB-63A9-DC4F-59F093B8157D}"/>
              </a:ext>
            </a:extLst>
          </p:cNvPr>
          <p:cNvSpPr/>
          <p:nvPr/>
        </p:nvSpPr>
        <p:spPr>
          <a:xfrm>
            <a:off x="3191160" y="3242374"/>
            <a:ext cx="2761488" cy="14173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9" name="Shape 50">
            <a:extLst>
              <a:ext uri="{FF2B5EF4-FFF2-40B4-BE49-F238E27FC236}">
                <a16:creationId xmlns:a16="http://schemas.microsoft.com/office/drawing/2014/main" id="{3D122C0A-DE42-D113-75E0-DCEC0CB7B04A}"/>
              </a:ext>
            </a:extLst>
          </p:cNvPr>
          <p:cNvSpPr/>
          <p:nvPr/>
        </p:nvSpPr>
        <p:spPr>
          <a:xfrm>
            <a:off x="3191160" y="3242374"/>
            <a:ext cx="45720" cy="141732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80" name="Shape 51">
            <a:extLst>
              <a:ext uri="{FF2B5EF4-FFF2-40B4-BE49-F238E27FC236}">
                <a16:creationId xmlns:a16="http://schemas.microsoft.com/office/drawing/2014/main" id="{3176A753-5FFA-AE25-0009-A94221BEE05F}"/>
              </a:ext>
            </a:extLst>
          </p:cNvPr>
          <p:cNvSpPr/>
          <p:nvPr/>
        </p:nvSpPr>
        <p:spPr>
          <a:xfrm>
            <a:off x="3191160" y="3242374"/>
            <a:ext cx="2761488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0326" y="3366639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Chatbot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60" name="Text 58"/>
          <p:cNvSpPr/>
          <p:nvPr/>
        </p:nvSpPr>
        <p:spPr>
          <a:xfrm>
            <a:off x="3330326" y="3732399"/>
            <a:ext cx="266325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Arabic AI communication.</a:t>
            </a:r>
            <a:endParaRPr lang="en-US" sz="1400" dirty="0"/>
          </a:p>
        </p:txBody>
      </p:sp>
      <p:sp>
        <p:nvSpPr>
          <p:cNvPr id="81" name="Shape 50">
            <a:extLst>
              <a:ext uri="{FF2B5EF4-FFF2-40B4-BE49-F238E27FC236}">
                <a16:creationId xmlns:a16="http://schemas.microsoft.com/office/drawing/2014/main" id="{107F643A-05B9-DC44-1752-77E05C82E804}"/>
              </a:ext>
            </a:extLst>
          </p:cNvPr>
          <p:cNvSpPr/>
          <p:nvPr/>
        </p:nvSpPr>
        <p:spPr>
          <a:xfrm>
            <a:off x="6092987" y="3239786"/>
            <a:ext cx="45720" cy="141732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82" name="Shape 51">
            <a:extLst>
              <a:ext uri="{FF2B5EF4-FFF2-40B4-BE49-F238E27FC236}">
                <a16:creationId xmlns:a16="http://schemas.microsoft.com/office/drawing/2014/main" id="{E424480F-8952-5F97-DD13-84DB7A92B178}"/>
              </a:ext>
            </a:extLst>
          </p:cNvPr>
          <p:cNvSpPr/>
          <p:nvPr/>
        </p:nvSpPr>
        <p:spPr>
          <a:xfrm>
            <a:off x="6092987" y="3239786"/>
            <a:ext cx="2761488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eaves_variety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371600"/>
            <a:ext cx="7315200" cy="6858000"/>
          </a:xfrm>
          <a:prstGeom prst="ellipse">
            <a:avLst/>
          </a:prstGeom>
          <a:solidFill>
            <a:srgbClr val="0A1A0D">
              <a:alpha val="78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0" y="-914400"/>
            <a:ext cx="7315200" cy="6858000"/>
          </a:xfrm>
          <a:prstGeom prst="ellipse">
            <a:avLst/>
          </a:prstGeom>
          <a:solidFill>
            <a:srgbClr val="0A1A0D">
              <a:alpha val="72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1016" y="105156"/>
            <a:ext cx="6766560" cy="5074920"/>
          </a:xfrm>
          <a:prstGeom prst="ellipse">
            <a:avLst/>
          </a:prstGeom>
          <a:solidFill>
            <a:srgbClr val="3E6649">
              <a:alpha val="9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55725" y="239573"/>
            <a:ext cx="6364224" cy="4773168"/>
          </a:xfrm>
          <a:prstGeom prst="ellipse">
            <a:avLst/>
          </a:prstGeom>
          <a:solidFill>
            <a:srgbClr val="3E6649">
              <a:alpha val="12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0434" y="373990"/>
            <a:ext cx="5961888" cy="4471416"/>
          </a:xfrm>
          <a:prstGeom prst="ellipse">
            <a:avLst/>
          </a:prstGeom>
          <a:solidFill>
            <a:srgbClr val="3E6649">
              <a:alpha val="15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5142" y="508406"/>
            <a:ext cx="5559552" cy="4169664"/>
          </a:xfrm>
          <a:prstGeom prst="ellipse">
            <a:avLst/>
          </a:prstGeom>
          <a:solidFill>
            <a:srgbClr val="3E6649">
              <a:alpha val="18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9851" y="642823"/>
            <a:ext cx="5157216" cy="3867912"/>
          </a:xfrm>
          <a:prstGeom prst="ellipse">
            <a:avLst/>
          </a:prstGeom>
          <a:solidFill>
            <a:srgbClr val="3E6649">
              <a:alpha val="21000"/>
            </a:srgbClr>
          </a:solidFill>
          <a:ln w="12700">
            <a:solidFill>
              <a:srgbClr val="3E6649">
                <a:alpha val="3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777240"/>
            <a:ext cx="4754880" cy="3566160"/>
          </a:xfrm>
          <a:prstGeom prst="ellipse">
            <a:avLst/>
          </a:prstGeom>
          <a:solidFill>
            <a:srgbClr val="3E6649">
              <a:alpha val="24000"/>
            </a:srgbClr>
          </a:solidFill>
          <a:ln w="12700">
            <a:solidFill>
              <a:srgbClr val="3E6649">
                <a:alpha val="3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68296" y="928116"/>
            <a:ext cx="4572000" cy="3429000"/>
          </a:xfrm>
          <a:prstGeom prst="ellipse">
            <a:avLst/>
          </a:prstGeom>
          <a:solidFill>
            <a:srgbClr val="3E6649">
              <a:alpha val="3000"/>
            </a:srgbClr>
          </a:solidFill>
          <a:ln w="12700">
            <a:solidFill>
              <a:srgbClr val="3E6649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3005" y="1062533"/>
            <a:ext cx="4169664" cy="3127248"/>
          </a:xfrm>
          <a:prstGeom prst="ellipse">
            <a:avLst/>
          </a:prstGeom>
          <a:solidFill>
            <a:srgbClr val="3E6649">
              <a:alpha val="6000"/>
            </a:srgbClr>
          </a:solidFill>
          <a:ln w="12700">
            <a:solidFill>
              <a:srgbClr val="3E6649">
                <a:alpha val="2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37714" y="1196950"/>
            <a:ext cx="3767328" cy="2825496"/>
          </a:xfrm>
          <a:prstGeom prst="ellipse">
            <a:avLst/>
          </a:prstGeom>
          <a:solidFill>
            <a:srgbClr val="3E6649">
              <a:alpha val="9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22422" y="1331366"/>
            <a:ext cx="3364992" cy="2523744"/>
          </a:xfrm>
          <a:prstGeom prst="ellipse">
            <a:avLst/>
          </a:prstGeom>
          <a:solidFill>
            <a:srgbClr val="3E6649">
              <a:alpha val="12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7131" y="1465783"/>
            <a:ext cx="2962656" cy="2221992"/>
          </a:xfrm>
          <a:prstGeom prst="ellipse">
            <a:avLst/>
          </a:prstGeom>
          <a:solidFill>
            <a:srgbClr val="3E6649">
              <a:alpha val="15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1600200"/>
            <a:ext cx="2560320" cy="1920240"/>
          </a:xfrm>
          <a:prstGeom prst="ellipse">
            <a:avLst/>
          </a:prstGeom>
          <a:solidFill>
            <a:srgbClr val="3E6649">
              <a:alpha val="18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28800" y="376732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0" y="376732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14600" y="371246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14600" y="371246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0" y="365760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0" y="365760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86200" y="360273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86200" y="360273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80560" y="355518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0" y="355518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0" y="351861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351861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57600" y="91440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89120" y="85587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89120" y="85587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37760" y="81198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37760" y="81198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86400" y="76809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0" y="76809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0" y="72420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35040" y="72420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10528" y="68616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10528" y="68616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76288" y="65690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76288" y="65690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1500000">
            <a:off x="-457200" y="-274320"/>
            <a:ext cx="2011680" cy="731520"/>
          </a:xfrm>
          <a:prstGeom prst="ellipse">
            <a:avLst/>
          </a:prstGeom>
          <a:solidFill>
            <a:srgbClr val="3E6649">
              <a:alpha val="40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-2880000">
            <a:off x="-182880" y="-457200"/>
            <a:ext cx="1554480" cy="548640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9300000">
            <a:off x="7589520" y="4389120"/>
            <a:ext cx="2011680" cy="731520"/>
          </a:xfrm>
          <a:prstGeom prst="ellipse">
            <a:avLst/>
          </a:prstGeom>
          <a:solidFill>
            <a:srgbClr val="3E6649">
              <a:alpha val="40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rot="7920000">
            <a:off x="7772400" y="4251960"/>
            <a:ext cx="1554480" cy="548640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01</a:t>
            </a:r>
            <a:endParaRPr lang="en-US" sz="850" dirty="0">
              <a:solidFill>
                <a:schemeClr val="accent3"/>
              </a:solidFill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794760" y="1298448"/>
            <a:ext cx="1554480" cy="34747"/>
          </a:xfrm>
          <a:prstGeom prst="rect">
            <a:avLst/>
          </a:prstGeom>
          <a:solidFill>
            <a:schemeClr val="accent3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794760" y="1298448"/>
            <a:ext cx="201168" cy="34747"/>
          </a:xfrm>
          <a:prstGeom prst="rect">
            <a:avLst/>
          </a:prstGeom>
          <a:solidFill>
            <a:srgbClr val="C9A84C">
              <a:alpha val="9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1389888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5800" dirty="0"/>
          </a:p>
        </p:txBody>
      </p:sp>
      <p:sp>
        <p:nvSpPr>
          <p:cNvPr id="53" name="Text 50"/>
          <p:cNvSpPr/>
          <p:nvPr/>
        </p:nvSpPr>
        <p:spPr>
          <a:xfrm>
            <a:off x="274320" y="2395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3000" dirty="0">
              <a:solidFill>
                <a:schemeClr val="accent3"/>
              </a:solidFill>
            </a:endParaRPr>
          </a:p>
        </p:txBody>
      </p:sp>
      <p:sp>
        <p:nvSpPr>
          <p:cNvPr id="54" name="Text 5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visual intelligence behind FLORA.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926080" y="3520440"/>
            <a:ext cx="3291840" cy="27432"/>
          </a:xfrm>
          <a:prstGeom prst="rect">
            <a:avLst/>
          </a:prstGeom>
          <a:solidFill>
            <a:schemeClr val="accent3">
              <a:alpha val="72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0" y="49207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— AI Agricultural Intelligence System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438912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33059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433059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428670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424281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0" y="419892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922199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COMPUTER VISION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4549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Computer Vision?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354253" y="796011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1" name="Text 28"/>
          <p:cNvSpPr/>
          <p:nvPr/>
        </p:nvSpPr>
        <p:spPr>
          <a:xfrm>
            <a:off x="117475" y="9859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are fundamentally visual — machines can learn to see them too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423566" y="1315769"/>
            <a:ext cx="3587209" cy="35478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52160" y="2788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69248" y="1315769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69248" y="1315769"/>
            <a:ext cx="45720" cy="804672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69248" y="1315769"/>
            <a:ext cx="507492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4696" y="138892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SYMPTOMS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324696" y="1663481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appear visually — through leaf color, texture, spots, and patterns requiring image-based analysis.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169248" y="2230169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69248" y="2230169"/>
            <a:ext cx="45720" cy="804672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9248" y="2230169"/>
            <a:ext cx="507492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4696" y="230332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RULE SETS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324696" y="2577881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systems fail to capture subtle visual variations between disease types and severity levels.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69248" y="3144569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9248" y="3144569"/>
            <a:ext cx="45720" cy="804672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69248" y="3144569"/>
            <a:ext cx="507492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4696" y="321772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VISION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324696" y="3492281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mimics how a trained agronomist visually identifies diseases — at scale and instantly.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169248" y="4058969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69248" y="4058969"/>
            <a:ext cx="45720" cy="804672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69248" y="4058969"/>
            <a:ext cx="507492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24696" y="413212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ROBUST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324696" y="4406681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models handle lighting variation, image noise, overlapping leaves, and partial occlusion naturally.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6056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1191446"/>
            <a:ext cx="3063240" cy="3474406"/>
          </a:xfrm>
          <a:prstGeom prst="rect">
            <a:avLst/>
          </a:prstGeom>
          <a:ln w="12700">
            <a:solidFill>
              <a:srgbClr val="050D07">
                <a:alpha val="0"/>
              </a:srgbClr>
            </a:solidFill>
            <a:prstDash val="soli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</p:sp>
      <p:sp>
        <p:nvSpPr>
          <p:cNvPr id="8" name="Shape 5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438912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33059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433059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428670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424281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0" y="419892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92220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DATA COLLECTION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48194" y="18893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Research Journey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814178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1" name="Text 28"/>
          <p:cNvSpPr/>
          <p:nvPr/>
        </p:nvSpPr>
        <p:spPr>
          <a:xfrm>
            <a:off x="330030" y="10933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evaluating, and selecting the optimal training dataset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11480" y="1436884"/>
            <a:ext cx="5074920" cy="548640"/>
          </a:xfrm>
          <a:prstGeom prst="rect">
            <a:avLst/>
          </a:prstGeom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33" name="Text 30"/>
          <p:cNvSpPr/>
          <p:nvPr/>
        </p:nvSpPr>
        <p:spPr>
          <a:xfrm>
            <a:off x="566928" y="15466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24128" y="1555756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and evaluated multiple agricultural image datasets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2058676"/>
            <a:ext cx="5074920" cy="548640"/>
          </a:xfrm>
          <a:prstGeom prst="rect">
            <a:avLst/>
          </a:prstGeom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36" name="Text 33"/>
          <p:cNvSpPr/>
          <p:nvPr/>
        </p:nvSpPr>
        <p:spPr>
          <a:xfrm>
            <a:off x="566928" y="21684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24128" y="217754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dataset quality, label consistency, and diversity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11480" y="2680468"/>
            <a:ext cx="5074920" cy="548640"/>
          </a:xfrm>
          <a:prstGeom prst="rect">
            <a:avLst/>
          </a:prstGeom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39" name="Text 36"/>
          <p:cNvSpPr/>
          <p:nvPr/>
        </p:nvSpPr>
        <p:spPr>
          <a:xfrm>
            <a:off x="566928" y="27901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1024128" y="2799340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coverage of real-world disease conditions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11480" y="3302260"/>
            <a:ext cx="5074920" cy="548640"/>
          </a:xfrm>
          <a:prstGeom prst="rect">
            <a:avLst/>
          </a:prstGeom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42" name="Text 39"/>
          <p:cNvSpPr/>
          <p:nvPr/>
        </p:nvSpPr>
        <p:spPr>
          <a:xfrm>
            <a:off x="566928" y="34119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24128" y="342113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class balance across disease categories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11480" y="3924052"/>
            <a:ext cx="5074920" cy="548640"/>
          </a:xfrm>
          <a:prstGeom prst="rect">
            <a:avLst/>
          </a:prstGeom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46" name="Text 43"/>
          <p:cNvSpPr/>
          <p:nvPr/>
        </p:nvSpPr>
        <p:spPr>
          <a:xfrm>
            <a:off x="566928" y="40337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47" name="Text 44"/>
          <p:cNvSpPr/>
          <p:nvPr/>
        </p:nvSpPr>
        <p:spPr>
          <a:xfrm>
            <a:off x="1024128" y="40429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most suitable and comprehensive dataset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669280" y="1191446"/>
            <a:ext cx="3063240" cy="34747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49" name="Shape 46"/>
          <p:cNvSpPr/>
          <p:nvPr/>
        </p:nvSpPr>
        <p:spPr>
          <a:xfrm>
            <a:off x="5669280" y="1191446"/>
            <a:ext cx="45720" cy="3474721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50" name="Shape 47"/>
          <p:cNvSpPr/>
          <p:nvPr/>
        </p:nvSpPr>
        <p:spPr>
          <a:xfrm>
            <a:off x="5669280" y="1191447"/>
            <a:ext cx="3063240" cy="36576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51" name="Text 48"/>
          <p:cNvSpPr/>
          <p:nvPr/>
        </p:nvSpPr>
        <p:spPr>
          <a:xfrm>
            <a:off x="5833872" y="1346895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DATASET</a:t>
            </a:r>
            <a:endParaRPr lang="en-US" sz="850" dirty="0">
              <a:solidFill>
                <a:schemeClr val="accent3"/>
              </a:solidFill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053328" y="1621215"/>
            <a:ext cx="2286000" cy="34747"/>
          </a:xfrm>
          <a:prstGeom prst="rect">
            <a:avLst/>
          </a:prstGeom>
          <a:solidFill>
            <a:srgbClr val="C9A84C">
              <a:alpha val="7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997015" y="1949920"/>
            <a:ext cx="196480" cy="19648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55" name="Text 52"/>
          <p:cNvSpPr/>
          <p:nvPr/>
        </p:nvSpPr>
        <p:spPr>
          <a:xfrm>
            <a:off x="6275147" y="1810633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56" name="Text 53"/>
          <p:cNvSpPr/>
          <p:nvPr/>
        </p:nvSpPr>
        <p:spPr>
          <a:xfrm>
            <a:off x="6275147" y="20426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Species Categories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57" name="Shape 54"/>
          <p:cNvSpPr/>
          <p:nvPr/>
        </p:nvSpPr>
        <p:spPr>
          <a:xfrm>
            <a:off x="5997015" y="2699728"/>
            <a:ext cx="196480" cy="19648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58" name="Text 55"/>
          <p:cNvSpPr/>
          <p:nvPr/>
        </p:nvSpPr>
        <p:spPr>
          <a:xfrm>
            <a:off x="6275147" y="2560441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59" name="Text 56"/>
          <p:cNvSpPr/>
          <p:nvPr/>
        </p:nvSpPr>
        <p:spPr>
          <a:xfrm>
            <a:off x="6275147" y="27924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Classification Classes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60" name="Shape 57"/>
          <p:cNvSpPr/>
          <p:nvPr/>
        </p:nvSpPr>
        <p:spPr>
          <a:xfrm>
            <a:off x="5997015" y="3449536"/>
            <a:ext cx="196480" cy="19648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61" name="Text 58"/>
          <p:cNvSpPr/>
          <p:nvPr/>
        </p:nvSpPr>
        <p:spPr>
          <a:xfrm>
            <a:off x="6275147" y="3310249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62" name="Text 59"/>
          <p:cNvSpPr/>
          <p:nvPr/>
        </p:nvSpPr>
        <p:spPr>
          <a:xfrm>
            <a:off x="6275147" y="35423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&amp; Infected Samples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63" name="Shape 60"/>
          <p:cNvSpPr/>
          <p:nvPr/>
        </p:nvSpPr>
        <p:spPr>
          <a:xfrm>
            <a:off x="5997015" y="4199344"/>
            <a:ext cx="196480" cy="19648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64" name="Text 61"/>
          <p:cNvSpPr/>
          <p:nvPr/>
        </p:nvSpPr>
        <p:spPr>
          <a:xfrm>
            <a:off x="6275147" y="4060057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65" name="Text 62"/>
          <p:cNvSpPr/>
          <p:nvPr/>
        </p:nvSpPr>
        <p:spPr>
          <a:xfrm>
            <a:off x="6275147" y="42921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Conditions</a:t>
            </a:r>
            <a:endParaRPr lang="en-US" sz="10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34456" y="3031236"/>
            <a:ext cx="3840480" cy="2880360"/>
          </a:xfrm>
          <a:prstGeom prst="ellipse">
            <a:avLst/>
          </a:prstGeom>
          <a:solidFill>
            <a:srgbClr val="1E3D24">
              <a:alpha val="3000"/>
            </a:srgbClr>
          </a:solidFill>
          <a:ln w="12700">
            <a:solidFill>
              <a:srgbClr val="1E3D2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19165" y="3165653"/>
            <a:ext cx="3438144" cy="2578608"/>
          </a:xfrm>
          <a:prstGeom prst="ellipse">
            <a:avLst/>
          </a:prstGeom>
          <a:solidFill>
            <a:srgbClr val="1E3D24">
              <a:alpha val="6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3874" y="3300070"/>
            <a:ext cx="3035808" cy="2276856"/>
          </a:xfrm>
          <a:prstGeom prst="ellipse">
            <a:avLst/>
          </a:prstGeom>
          <a:solidFill>
            <a:srgbClr val="1E3D24">
              <a:alpha val="9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8582" y="3434486"/>
            <a:ext cx="2633472" cy="1975104"/>
          </a:xfrm>
          <a:prstGeom prst="ellipse">
            <a:avLst/>
          </a:prstGeom>
          <a:solidFill>
            <a:srgbClr val="1E3D24">
              <a:alpha val="12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3291" y="3568903"/>
            <a:ext cx="2231136" cy="1673352"/>
          </a:xfrm>
          <a:prstGeom prst="ellipse">
            <a:avLst/>
          </a:prstGeom>
          <a:solidFill>
            <a:srgbClr val="1E3D24">
              <a:alpha val="15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3703320"/>
            <a:ext cx="1828800" cy="1371600"/>
          </a:xfrm>
          <a:prstGeom prst="ellipse">
            <a:avLst/>
          </a:prstGeom>
          <a:solidFill>
            <a:srgbClr val="1E3D24">
              <a:alpha val="18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39912" y="531815"/>
            <a:ext cx="312359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531815"/>
            <a:ext cx="312359" cy="124944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9952" y="506212"/>
            <a:ext cx="28675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9952" y="506212"/>
            <a:ext cx="286756" cy="1147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2219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PREPROCESSING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0309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789956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3"/>
          <p:cNvSpPr/>
          <p:nvPr/>
        </p:nvSpPr>
        <p:spPr>
          <a:xfrm>
            <a:off x="256272" y="1032615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reliable foundation — clean data defines model accuracy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35600" y="1382381"/>
            <a:ext cx="2011680" cy="2618456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5600" y="1382381"/>
            <a:ext cx="45720" cy="261845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38" name="Shape 36"/>
          <p:cNvSpPr/>
          <p:nvPr/>
        </p:nvSpPr>
        <p:spPr>
          <a:xfrm>
            <a:off x="335600" y="1382380"/>
            <a:ext cx="2011680" cy="45719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39" name="Text 37"/>
          <p:cNvSpPr/>
          <p:nvPr/>
        </p:nvSpPr>
        <p:spPr>
          <a:xfrm>
            <a:off x="439152" y="171938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439152" y="2130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Corrupted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9152" y="2249424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removed all damaged, unreadable, or duplicate image files.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484440" y="1382381"/>
            <a:ext cx="2011680" cy="2618456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84440" y="1382381"/>
            <a:ext cx="45720" cy="261845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44" name="Shape 42"/>
          <p:cNvSpPr/>
          <p:nvPr/>
        </p:nvSpPr>
        <p:spPr>
          <a:xfrm>
            <a:off x="2484440" y="1382380"/>
            <a:ext cx="2011680" cy="45719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45" name="Text 43"/>
          <p:cNvSpPr/>
          <p:nvPr/>
        </p:nvSpPr>
        <p:spPr>
          <a:xfrm>
            <a:off x="2587992" y="171938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2563770" y="2130376"/>
            <a:ext cx="188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Categories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587992" y="2249424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dataset folders into consistent, class-labeled directories.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33280" y="1382381"/>
            <a:ext cx="2011680" cy="2618456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33280" y="1382381"/>
            <a:ext cx="45720" cy="261845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50" name="Shape 48"/>
          <p:cNvSpPr/>
          <p:nvPr/>
        </p:nvSpPr>
        <p:spPr>
          <a:xfrm>
            <a:off x="4633280" y="1382380"/>
            <a:ext cx="2011680" cy="45719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51" name="Text 49"/>
          <p:cNvSpPr/>
          <p:nvPr/>
        </p:nvSpPr>
        <p:spPr>
          <a:xfrm>
            <a:off x="4736832" y="171938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4736832" y="2130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Sizes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736832" y="2249424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all images to a uniform resolution for model input consistency.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782120" y="1382381"/>
            <a:ext cx="2011680" cy="2618456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82120" y="1382381"/>
            <a:ext cx="45720" cy="261845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56" name="Shape 54"/>
          <p:cNvSpPr/>
          <p:nvPr/>
        </p:nvSpPr>
        <p:spPr>
          <a:xfrm>
            <a:off x="6782120" y="1382380"/>
            <a:ext cx="2011680" cy="45719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57" name="Text 55"/>
          <p:cNvSpPr/>
          <p:nvPr/>
        </p:nvSpPr>
        <p:spPr>
          <a:xfrm>
            <a:off x="6885672" y="171938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6885672" y="2130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Validation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6892591" y="2261101"/>
            <a:ext cx="1824609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integrity checks to ensure dataset quality before training begins.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08272" y="4191400"/>
            <a:ext cx="8302752" cy="621792"/>
          </a:xfrm>
          <a:prstGeom prst="rect">
            <a:avLst/>
          </a:prstGeom>
          <a:solidFill>
            <a:srgbClr val="0A1A0D">
              <a:alpha val="88000"/>
            </a:srgbClr>
          </a:solidFill>
          <a:ln w="12700">
            <a:solidFill>
              <a:schemeClr val="accent3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1" name="Shape 59"/>
          <p:cNvSpPr/>
          <p:nvPr/>
        </p:nvSpPr>
        <p:spPr>
          <a:xfrm>
            <a:off x="408272" y="4191400"/>
            <a:ext cx="45720" cy="621792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62" name="Text 60"/>
          <p:cNvSpPr/>
          <p:nvPr/>
        </p:nvSpPr>
        <p:spPr>
          <a:xfrm>
            <a:off x="591152" y="4276784"/>
            <a:ext cx="8028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591152" y="4505384"/>
            <a:ext cx="8028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data directly determines the accuracy and reliability of the trained AI model.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43016" y="-54864"/>
            <a:ext cx="4023360" cy="3017520"/>
          </a:xfrm>
          <a:prstGeom prst="ellipse">
            <a:avLst/>
          </a:prstGeom>
          <a:solidFill>
            <a:srgbClr val="3E6649">
              <a:alpha val="5000"/>
            </a:srgbClr>
          </a:solidFill>
          <a:ln w="12700">
            <a:solidFill>
              <a:srgbClr val="3E6649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7725" y="79553"/>
            <a:ext cx="3621024" cy="2715768"/>
          </a:xfrm>
          <a:prstGeom prst="ellipse">
            <a:avLst/>
          </a:prstGeom>
          <a:solidFill>
            <a:srgbClr val="3E6649">
              <a:alpha val="8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2434" y="213970"/>
            <a:ext cx="3218688" cy="2414016"/>
          </a:xfrm>
          <a:prstGeom prst="ellipse">
            <a:avLst/>
          </a:prstGeom>
          <a:solidFill>
            <a:srgbClr val="3E6649">
              <a:alpha val="11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142" y="348386"/>
            <a:ext cx="2816352" cy="2112264"/>
          </a:xfrm>
          <a:prstGeom prst="ellipse">
            <a:avLst/>
          </a:prstGeom>
          <a:solidFill>
            <a:srgbClr val="3E6649">
              <a:alpha val="14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1851" y="482803"/>
            <a:ext cx="2414016" cy="1810512"/>
          </a:xfrm>
          <a:prstGeom prst="ellipse">
            <a:avLst/>
          </a:prstGeom>
          <a:solidFill>
            <a:srgbClr val="3E6649">
              <a:alpha val="17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617220"/>
            <a:ext cx="2011680" cy="1508760"/>
          </a:xfrm>
          <a:prstGeom prst="ellipse">
            <a:avLst/>
          </a:prstGeom>
          <a:solidFill>
            <a:srgbClr val="3E6649">
              <a:alpha val="20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438912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33059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3059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428670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424281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419892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7375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AUGMENTATION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085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Techniques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39032" y="771789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3"/>
          <p:cNvSpPr/>
          <p:nvPr/>
        </p:nvSpPr>
        <p:spPr>
          <a:xfrm>
            <a:off x="116264" y="1026691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dataset diversity to improve generalization and robustness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81354" y="1382385"/>
            <a:ext cx="5074920" cy="74980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354" y="1382385"/>
            <a:ext cx="45720" cy="749808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38" name="Shape 36"/>
          <p:cNvSpPr/>
          <p:nvPr/>
        </p:nvSpPr>
        <p:spPr>
          <a:xfrm>
            <a:off x="181354" y="1382385"/>
            <a:ext cx="5074920" cy="3657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39" name="Text 37"/>
          <p:cNvSpPr/>
          <p:nvPr/>
        </p:nvSpPr>
        <p:spPr>
          <a:xfrm>
            <a:off x="364234" y="1473825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4234" y="1784721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rotated at multiple angles to simulate different capture orientations.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1354" y="2223633"/>
            <a:ext cx="5074920" cy="74980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1354" y="2223633"/>
            <a:ext cx="45720" cy="749808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43" name="Shape 41"/>
          <p:cNvSpPr/>
          <p:nvPr/>
        </p:nvSpPr>
        <p:spPr>
          <a:xfrm>
            <a:off x="181354" y="2223633"/>
            <a:ext cx="5074920" cy="3657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44" name="Text 42"/>
          <p:cNvSpPr/>
          <p:nvPr/>
        </p:nvSpPr>
        <p:spPr>
          <a:xfrm>
            <a:off x="364234" y="2315073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4234" y="2625969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images to instantly double effective training samples.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81354" y="3064881"/>
            <a:ext cx="5074920" cy="74980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1354" y="3064881"/>
            <a:ext cx="45720" cy="749808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48" name="Shape 46"/>
          <p:cNvSpPr/>
          <p:nvPr/>
        </p:nvSpPr>
        <p:spPr>
          <a:xfrm>
            <a:off x="181354" y="3064881"/>
            <a:ext cx="5074920" cy="3657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49" name="Text 47"/>
          <p:cNvSpPr/>
          <p:nvPr/>
        </p:nvSpPr>
        <p:spPr>
          <a:xfrm>
            <a:off x="364234" y="315632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Variation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4234" y="3467217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zoom levels simulate different camera-to-leaf distances.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81354" y="3906129"/>
            <a:ext cx="5074920" cy="74980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354" y="3906129"/>
            <a:ext cx="45720" cy="749808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53" name="Shape 51"/>
          <p:cNvSpPr/>
          <p:nvPr/>
        </p:nvSpPr>
        <p:spPr>
          <a:xfrm>
            <a:off x="181354" y="3906129"/>
            <a:ext cx="5074920" cy="3657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54" name="Text 52"/>
          <p:cNvSpPr/>
          <p:nvPr/>
        </p:nvSpPr>
        <p:spPr>
          <a:xfrm>
            <a:off x="364234" y="3997569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Shifts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4234" y="4308465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adjustments replicate varied real-world lighting conditions.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51274" y="858815"/>
            <a:ext cx="3544593" cy="23710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0" y="201625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51273" y="3337560"/>
            <a:ext cx="3544593" cy="1525407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51274" y="3337560"/>
            <a:ext cx="52905" cy="1525407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68" name="Shape 66"/>
          <p:cNvSpPr/>
          <p:nvPr/>
        </p:nvSpPr>
        <p:spPr>
          <a:xfrm>
            <a:off x="5451273" y="3337560"/>
            <a:ext cx="3544593" cy="3657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69" name="Text 67"/>
          <p:cNvSpPr/>
          <p:nvPr/>
        </p:nvSpPr>
        <p:spPr>
          <a:xfrm>
            <a:off x="5864152" y="34382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AUGMENTATION MATTERS</a:t>
            </a:r>
            <a:endParaRPr lang="en-US" sz="800" dirty="0">
              <a:solidFill>
                <a:schemeClr val="accent3"/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5651835" y="3779439"/>
            <a:ext cx="117346" cy="117346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98987" y="37187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to training data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51835" y="4035471"/>
            <a:ext cx="117346" cy="117346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98987" y="39747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real-world generalization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651835" y="4291503"/>
            <a:ext cx="117346" cy="117346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98987" y="42308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model robustness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651835" y="4547535"/>
            <a:ext cx="117346" cy="117346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98987" y="448685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dataset artificially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-3272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66344" y="3214116"/>
            <a:ext cx="3840480" cy="2880360"/>
          </a:xfrm>
          <a:prstGeom prst="ellipse">
            <a:avLst/>
          </a:prstGeom>
          <a:solidFill>
            <a:srgbClr val="1E3D24">
              <a:alpha val="3000"/>
            </a:srgbClr>
          </a:solidFill>
          <a:ln w="12700">
            <a:solidFill>
              <a:srgbClr val="1E3D2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81635" y="3348533"/>
            <a:ext cx="3438144" cy="2578608"/>
          </a:xfrm>
          <a:prstGeom prst="ellipse">
            <a:avLst/>
          </a:prstGeom>
          <a:solidFill>
            <a:srgbClr val="1E3D24">
              <a:alpha val="6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96926" y="3482950"/>
            <a:ext cx="3035808" cy="2276856"/>
          </a:xfrm>
          <a:prstGeom prst="ellipse">
            <a:avLst/>
          </a:prstGeom>
          <a:solidFill>
            <a:srgbClr val="1E3D24">
              <a:alpha val="9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" y="3617366"/>
            <a:ext cx="2633472" cy="1975104"/>
          </a:xfrm>
          <a:prstGeom prst="ellipse">
            <a:avLst/>
          </a:prstGeom>
          <a:solidFill>
            <a:srgbClr val="1E3D24">
              <a:alpha val="12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" y="3751783"/>
            <a:ext cx="2231136" cy="1673352"/>
          </a:xfrm>
          <a:prstGeom prst="ellipse">
            <a:avLst/>
          </a:prstGeom>
          <a:solidFill>
            <a:srgbClr val="1E3D24">
              <a:alpha val="15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86200"/>
            <a:ext cx="1828800" cy="1371600"/>
          </a:xfrm>
          <a:prstGeom prst="ellipse">
            <a:avLst/>
          </a:prstGeom>
          <a:solidFill>
            <a:srgbClr val="1E3D24">
              <a:alpha val="18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9912" y="531815"/>
            <a:ext cx="312359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912" y="531815"/>
            <a:ext cx="312359" cy="124944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9952" y="506212"/>
            <a:ext cx="28675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59952" y="506212"/>
            <a:ext cx="286756" cy="1147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2825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DATA SPLITTING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8198" y="134435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Splitting Strategy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753621"/>
            <a:ext cx="1463040" cy="3474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3"/>
          <p:cNvSpPr/>
          <p:nvPr/>
        </p:nvSpPr>
        <p:spPr>
          <a:xfrm>
            <a:off x="296757" y="89981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data to ensure fair, unbiased model evaluation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9476" y="1244654"/>
            <a:ext cx="2514600" cy="270702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1399032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800" dirty="0"/>
          </a:p>
        </p:txBody>
      </p:sp>
      <p:sp>
        <p:nvSpPr>
          <p:cNvPr id="40" name="Text 38"/>
          <p:cNvSpPr/>
          <p:nvPr/>
        </p:nvSpPr>
        <p:spPr>
          <a:xfrm>
            <a:off x="475488" y="272491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" y="3136392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328416" y="1399032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800" dirty="0"/>
          </a:p>
        </p:txBody>
      </p:sp>
      <p:sp>
        <p:nvSpPr>
          <p:cNvPr id="46" name="Text 44"/>
          <p:cNvSpPr/>
          <p:nvPr/>
        </p:nvSpPr>
        <p:spPr>
          <a:xfrm>
            <a:off x="3328416" y="272491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46704" y="3136392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81344" y="1399032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800" dirty="0"/>
          </a:p>
        </p:txBody>
      </p:sp>
      <p:sp>
        <p:nvSpPr>
          <p:cNvPr id="52" name="Text 50"/>
          <p:cNvSpPr/>
          <p:nvPr/>
        </p:nvSpPr>
        <p:spPr>
          <a:xfrm>
            <a:off x="6181344" y="272491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199632" y="3136392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84048" y="4107223"/>
            <a:ext cx="8302752" cy="621792"/>
          </a:xfrm>
          <a:prstGeom prst="rect">
            <a:avLst/>
          </a:prstGeom>
          <a:solidFill>
            <a:srgbClr val="0A1A0D">
              <a:alpha val="88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592" y="4144163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Splitting Matters: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473029" y="4234993"/>
            <a:ext cx="109728" cy="10972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22991" y="4156271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47549" y="4234993"/>
            <a:ext cx="109728" cy="10972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97511" y="4156271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fair evaluation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5577" y="4234993"/>
            <a:ext cx="109728" cy="10972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77388" y="4169685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real-world reliability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6928" y="4445431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splits ensure the model learns effectively, evaluates honestly, and generalizes to real-world conditions.</a:t>
            </a:r>
            <a:endParaRPr lang="en-US" sz="1200" dirty="0"/>
          </a:p>
        </p:txBody>
      </p:sp>
      <p:sp>
        <p:nvSpPr>
          <p:cNvPr id="63" name="Shape 34">
            <a:extLst>
              <a:ext uri="{FF2B5EF4-FFF2-40B4-BE49-F238E27FC236}">
                <a16:creationId xmlns:a16="http://schemas.microsoft.com/office/drawing/2014/main" id="{3D3D21F8-7002-604D-750D-3D7A72B235C2}"/>
              </a:ext>
            </a:extLst>
          </p:cNvPr>
          <p:cNvSpPr/>
          <p:nvPr/>
        </p:nvSpPr>
        <p:spPr>
          <a:xfrm>
            <a:off x="3274811" y="1244654"/>
            <a:ext cx="2514600" cy="270702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6E318750-5614-A385-7AF3-451D7A20644D}"/>
              </a:ext>
            </a:extLst>
          </p:cNvPr>
          <p:cNvSpPr/>
          <p:nvPr/>
        </p:nvSpPr>
        <p:spPr>
          <a:xfrm>
            <a:off x="6167628" y="1250800"/>
            <a:ext cx="2514600" cy="270702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ai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371600"/>
            <a:ext cx="7315200" cy="6858000"/>
          </a:xfrm>
          <a:prstGeom prst="ellipse">
            <a:avLst/>
          </a:prstGeom>
          <a:solidFill>
            <a:srgbClr val="0A1A0D">
              <a:alpha val="78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0" y="-914400"/>
            <a:ext cx="7315200" cy="6858000"/>
          </a:xfrm>
          <a:prstGeom prst="ellipse">
            <a:avLst/>
          </a:prstGeom>
          <a:solidFill>
            <a:srgbClr val="0A1A0D">
              <a:alpha val="72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1016" y="105156"/>
            <a:ext cx="6766560" cy="5074920"/>
          </a:xfrm>
          <a:prstGeom prst="ellipse">
            <a:avLst/>
          </a:prstGeom>
          <a:solidFill>
            <a:srgbClr val="C9A84C">
              <a:alpha val="9000"/>
            </a:srgbClr>
          </a:solidFill>
          <a:ln w="12700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55725" y="239573"/>
            <a:ext cx="6364224" cy="4773168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0434" y="373990"/>
            <a:ext cx="5961888" cy="4471416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5142" y="508406"/>
            <a:ext cx="5559552" cy="4169664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9851" y="642823"/>
            <a:ext cx="5157216" cy="3867912"/>
          </a:xfrm>
          <a:prstGeom prst="ellipse">
            <a:avLst/>
          </a:prstGeom>
          <a:solidFill>
            <a:srgbClr val="C9A84C">
              <a:alpha val="21000"/>
            </a:srgbClr>
          </a:solidFill>
          <a:ln w="12700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777240"/>
            <a:ext cx="4754880" cy="3566160"/>
          </a:xfrm>
          <a:prstGeom prst="ellipse">
            <a:avLst/>
          </a:prstGeom>
          <a:solidFill>
            <a:srgbClr val="C9A84C">
              <a:alpha val="24000"/>
            </a:srgbClr>
          </a:solidFill>
          <a:ln w="12700">
            <a:solidFill>
              <a:srgbClr val="C9A84C">
                <a:alpha val="3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68296" y="928116"/>
            <a:ext cx="4572000" cy="3429000"/>
          </a:xfrm>
          <a:prstGeom prst="ellipse">
            <a:avLst/>
          </a:prstGeom>
          <a:solidFill>
            <a:srgbClr val="C9A84C">
              <a:alpha val="3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3005" y="1062533"/>
            <a:ext cx="4169664" cy="3127248"/>
          </a:xfrm>
          <a:prstGeom prst="ellipse">
            <a:avLst/>
          </a:prstGeom>
          <a:solidFill>
            <a:srgbClr val="C9A84C">
              <a:alpha val="6000"/>
            </a:srgbClr>
          </a:solidFill>
          <a:ln w="12700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37714" y="1196950"/>
            <a:ext cx="3767328" cy="2825496"/>
          </a:xfrm>
          <a:prstGeom prst="ellipse">
            <a:avLst/>
          </a:prstGeom>
          <a:solidFill>
            <a:srgbClr val="C9A84C">
              <a:alpha val="9000"/>
            </a:srgbClr>
          </a:solidFill>
          <a:ln w="12700">
            <a:solidFill>
              <a:srgbClr val="C9A84C">
                <a:alpha val="2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22422" y="1331366"/>
            <a:ext cx="3364992" cy="2523744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7131" y="1465783"/>
            <a:ext cx="2962656" cy="2221992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1600200"/>
            <a:ext cx="2560320" cy="192024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80560" y="355518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0" y="351861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89120" y="85587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37760" y="81198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37760" y="81198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86400" y="76809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0" y="76809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1500000">
            <a:off x="-457200" y="-274320"/>
            <a:ext cx="2011680" cy="731520"/>
          </a:xfrm>
          <a:prstGeom prst="ellipse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-2880000">
            <a:off x="-182880" y="-457200"/>
            <a:ext cx="1554480" cy="548640"/>
          </a:xfrm>
          <a:prstGeom prst="ellipse">
            <a:avLst/>
          </a:prstGeom>
          <a:solidFill>
            <a:srgbClr val="C9A84C">
              <a:alpha val="32000"/>
            </a:srgbClr>
          </a:solidFill>
          <a:ln w="12700">
            <a:solidFill>
              <a:srgbClr val="C9A84C">
                <a:alpha val="24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9300000">
            <a:off x="7589520" y="4389120"/>
            <a:ext cx="2011680" cy="731520"/>
          </a:xfrm>
          <a:prstGeom prst="ellipse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rot="7920000">
            <a:off x="7772400" y="4251960"/>
            <a:ext cx="1554480" cy="548640"/>
          </a:xfrm>
          <a:prstGeom prst="ellipse">
            <a:avLst/>
          </a:prstGeom>
          <a:solidFill>
            <a:srgbClr val="C9A84C">
              <a:alpha val="32000"/>
            </a:srgbClr>
          </a:solidFill>
          <a:ln w="12700">
            <a:solidFill>
              <a:srgbClr val="C9A84C">
                <a:alpha val="24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850" dirty="0">
              <a:solidFill>
                <a:schemeClr val="accent3"/>
              </a:solidFill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794760" y="1298448"/>
            <a:ext cx="1554480" cy="3474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1389888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5800" dirty="0"/>
          </a:p>
        </p:txBody>
      </p:sp>
      <p:sp>
        <p:nvSpPr>
          <p:cNvPr id="53" name="Text 50"/>
          <p:cNvSpPr/>
          <p:nvPr/>
        </p:nvSpPr>
        <p:spPr>
          <a:xfrm>
            <a:off x="274320" y="2395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3000" dirty="0">
              <a:solidFill>
                <a:schemeClr val="accent3"/>
              </a:solidFill>
            </a:endParaRPr>
          </a:p>
        </p:txBody>
      </p:sp>
      <p:sp>
        <p:nvSpPr>
          <p:cNvPr id="54" name="Text 5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 to recognize plant diseases accurately.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926080" y="3520440"/>
            <a:ext cx="3291840" cy="27432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— AI Agricultural Intelligence System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49884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49884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444398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444398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438912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438912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433425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33425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428670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428670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425013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25013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92825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ARCHITECTURE CHOICE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2142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Convolutional Neural Networks?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26920" y="826288"/>
            <a:ext cx="1463040" cy="34747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9" name="Text 27"/>
          <p:cNvSpPr/>
          <p:nvPr/>
        </p:nvSpPr>
        <p:spPr>
          <a:xfrm>
            <a:off x="305808" y="1232631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purpose-built for visual disease pattern recognition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5918" y="1588517"/>
            <a:ext cx="1148935" cy="1227583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918" y="1588516"/>
            <a:ext cx="1148935" cy="45719"/>
          </a:xfrm>
          <a:prstGeom prst="rect">
            <a:avLst/>
          </a:prstGeom>
          <a:solidFill>
            <a:srgbClr val="6E9B7A">
              <a:alpha val="82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70" y="1771397"/>
            <a:ext cx="1014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9070" y="2210309"/>
            <a:ext cx="10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44853" y="2254629"/>
            <a:ext cx="279953" cy="0"/>
          </a:xfrm>
          <a:prstGeom prst="line">
            <a:avLst/>
          </a:prstGeom>
          <a:noFill/>
          <a:ln w="1905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64208" y="1920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40670" y="1588517"/>
            <a:ext cx="1148935" cy="1227583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40670" y="1588516"/>
            <a:ext cx="1148935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13822" y="1771397"/>
            <a:ext cx="1014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13822" y="2210309"/>
            <a:ext cx="10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89605" y="2254629"/>
            <a:ext cx="279953" cy="0"/>
          </a:xfrm>
          <a:prstGeom prst="line">
            <a:avLst/>
          </a:prstGeom>
          <a:noFill/>
          <a:ln w="1905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1920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85422" y="1588517"/>
            <a:ext cx="1148935" cy="1227583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85422" y="1588516"/>
            <a:ext cx="1148935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58574" y="1771397"/>
            <a:ext cx="1014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58574" y="2210309"/>
            <a:ext cx="10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34356" y="2254629"/>
            <a:ext cx="279953" cy="0"/>
          </a:xfrm>
          <a:prstGeom prst="line">
            <a:avLst/>
          </a:prstGeom>
          <a:noFill/>
          <a:ln w="1905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53712" y="1920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30174" y="1588517"/>
            <a:ext cx="1148935" cy="1227583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30174" y="1588516"/>
            <a:ext cx="1148935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3326" y="1771397"/>
            <a:ext cx="1014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3326" y="2210309"/>
            <a:ext cx="10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79109" y="2254629"/>
            <a:ext cx="279953" cy="0"/>
          </a:xfrm>
          <a:prstGeom prst="line">
            <a:avLst/>
          </a:prstGeom>
          <a:noFill/>
          <a:ln w="1905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98464" y="1920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4926" y="1588517"/>
            <a:ext cx="1148935" cy="1227583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E2C97A">
                <a:alpha val="5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4926" y="1588516"/>
            <a:ext cx="1148935" cy="45719"/>
          </a:xfrm>
          <a:prstGeom prst="rect">
            <a:avLst/>
          </a:prstGeom>
          <a:solidFill>
            <a:srgbClr val="E2C97A">
              <a:alpha val="82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48078" y="1771397"/>
            <a:ext cx="1014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248078" y="2210309"/>
            <a:ext cx="10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23861" y="2254629"/>
            <a:ext cx="279953" cy="0"/>
          </a:xfrm>
          <a:prstGeom prst="line">
            <a:avLst/>
          </a:prstGeom>
          <a:noFill/>
          <a:ln w="1905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43216" y="1920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19678" y="1588517"/>
            <a:ext cx="1148935" cy="1227583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19678" y="1588516"/>
            <a:ext cx="1148935" cy="45719"/>
          </a:xfrm>
          <a:prstGeom prst="rect">
            <a:avLst/>
          </a:prstGeom>
          <a:solidFill>
            <a:srgbClr val="6E9B7A">
              <a:alpha val="82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92830" y="1771397"/>
            <a:ext cx="1014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692830" y="2210309"/>
            <a:ext cx="10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00507" y="3032982"/>
            <a:ext cx="2660904" cy="141623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0507" y="3032982"/>
            <a:ext cx="45719" cy="141623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0507" y="3032981"/>
            <a:ext cx="2660904" cy="45719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7667" y="3170142"/>
            <a:ext cx="241088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37667" y="3563334"/>
            <a:ext cx="24108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automatically detect visual fingerprints — edges, textures, and patterns that define each disease.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253435" y="3032982"/>
            <a:ext cx="2660904" cy="141623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53435" y="3032982"/>
            <a:ext cx="45719" cy="141623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53435" y="3032981"/>
            <a:ext cx="2660904" cy="45719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0595" y="3170142"/>
            <a:ext cx="241088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390595" y="3563334"/>
            <a:ext cx="24108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meaningful visual features hierarchically, from simple edges to complex disease signatures.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106363" y="3032982"/>
            <a:ext cx="2660904" cy="141623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06363" y="3032982"/>
            <a:ext cx="45719" cy="1416230"/>
          </a:xfrm>
          <a:prstGeom prst="rect">
            <a:avLst/>
          </a:prstGeom>
          <a:solidFill>
            <a:srgbClr val="E2C97A">
              <a:alpha val="88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06363" y="3032981"/>
            <a:ext cx="2660904" cy="45719"/>
          </a:xfrm>
          <a:prstGeom prst="rect">
            <a:avLst/>
          </a:prstGeom>
          <a:solidFill>
            <a:srgbClr val="E2C97A">
              <a:alpha val="65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43523" y="3170142"/>
            <a:ext cx="241088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Invariance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243523" y="3563334"/>
            <a:ext cx="24108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diseases regardless of their position in the image — robust to real-world variation.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9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31596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31596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426110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426110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420624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420624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415137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15137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410382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410382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406725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06725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928253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ARCHITECTURE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5807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Design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16711" y="793853"/>
            <a:ext cx="1463040" cy="34747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9" name="Text 27"/>
          <p:cNvSpPr/>
          <p:nvPr/>
        </p:nvSpPr>
        <p:spPr>
          <a:xfrm>
            <a:off x="172584" y="1135739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layer pipeline from raw image to disease classification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56032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1485565"/>
            <a:ext cx="1005840" cy="45719"/>
          </a:xfrm>
          <a:prstGeom prst="rect">
            <a:avLst/>
          </a:prstGeom>
          <a:solidFill>
            <a:srgbClr val="6E9B7A">
              <a:alpha val="82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61872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344168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44168" y="1485565"/>
            <a:ext cx="1005840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9888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89888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50008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32304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32304" y="1485565"/>
            <a:ext cx="1005840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78024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478024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38144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19856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520440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1485565"/>
            <a:ext cx="1005840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66160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26280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07992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08576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08576" y="1485565"/>
            <a:ext cx="1005840" cy="45719"/>
          </a:xfrm>
          <a:prstGeom prst="rect">
            <a:avLst/>
          </a:prstGeom>
          <a:solidFill>
            <a:srgbClr val="C9A84C">
              <a:alpha val="8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54296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54296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14416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96128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696712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E2C97A">
                <a:alpha val="5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96712" y="1485565"/>
            <a:ext cx="1005840" cy="45719"/>
          </a:xfrm>
          <a:prstGeom prst="rect">
            <a:avLst/>
          </a:prstGeom>
          <a:solidFill>
            <a:srgbClr val="E2C97A">
              <a:alpha val="82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42432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742432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702552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84264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784848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E2C97A">
                <a:alpha val="5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84848" y="1485565"/>
            <a:ext cx="1005840" cy="45719"/>
          </a:xfrm>
          <a:prstGeom prst="rect">
            <a:avLst/>
          </a:prstGeom>
          <a:solidFill>
            <a:srgbClr val="E2C97A">
              <a:alpha val="82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0568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830568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790688" y="2491406"/>
            <a:ext cx="82296" cy="0"/>
          </a:xfrm>
          <a:prstGeom prst="line">
            <a:avLst/>
          </a:prstGeom>
          <a:noFill/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0" y="20116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872984" y="1485566"/>
            <a:ext cx="1005840" cy="1353312"/>
          </a:xfrm>
          <a:prstGeom prst="rect">
            <a:avLst/>
          </a:prstGeom>
          <a:solidFill>
            <a:srgbClr val="030A04">
              <a:alpha val="90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72984" y="1485565"/>
            <a:ext cx="1005840" cy="45719"/>
          </a:xfrm>
          <a:prstGeom prst="rect">
            <a:avLst/>
          </a:prstGeom>
          <a:solidFill>
            <a:srgbClr val="6E9B7A">
              <a:alpha val="82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18704" y="165015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18704" y="205249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53768" y="3062209"/>
            <a:ext cx="2724912" cy="146304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3768" y="3062209"/>
            <a:ext cx="45720" cy="146304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3768" y="3062209"/>
            <a:ext cx="2724912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0928" y="3199369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Layers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90928" y="3565129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filters across the image to extract visual features like edges and textures.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206696" y="3062209"/>
            <a:ext cx="2724912" cy="146304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06696" y="3062209"/>
            <a:ext cx="45720" cy="146304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06696" y="3062209"/>
            <a:ext cx="2724912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43856" y="3199369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Layers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3343856" y="3565129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spatial dimensions while preserving dominant features — faster &amp; robust.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059624" y="3062209"/>
            <a:ext cx="2724912" cy="146304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59624" y="3062209"/>
            <a:ext cx="45720" cy="1463040"/>
          </a:xfrm>
          <a:prstGeom prst="rect">
            <a:avLst/>
          </a:prstGeom>
          <a:solidFill>
            <a:srgbClr val="E2C97A">
              <a:alpha val="88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59624" y="3062209"/>
            <a:ext cx="2724912" cy="36576"/>
          </a:xfrm>
          <a:prstGeom prst="rect">
            <a:avLst/>
          </a:prstGeom>
          <a:solidFill>
            <a:srgbClr val="E2C97A">
              <a:alpha val="65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96784" y="3199369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6196784" y="3565129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classification decisions based on all features learned by the network.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4506163"/>
            <a:ext cx="59253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4506163"/>
            <a:ext cx="592531" cy="23701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23060" y="4456786"/>
            <a:ext cx="54315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23060" y="4456786"/>
            <a:ext cx="543154" cy="21726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40280" y="4407408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40280" y="4407408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57500" y="4358030"/>
            <a:ext cx="444398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57500" y="4358030"/>
            <a:ext cx="444398" cy="177759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92424" y="4315236"/>
            <a:ext cx="4016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92424" y="4315236"/>
            <a:ext cx="401604" cy="16064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03904" y="4282318"/>
            <a:ext cx="36868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03904" y="4282318"/>
            <a:ext cx="368686" cy="147474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92825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TRAINING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54251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Process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814179"/>
            <a:ext cx="1463040" cy="34747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1" name="Text 28"/>
          <p:cNvSpPr/>
          <p:nvPr/>
        </p:nvSpPr>
        <p:spPr>
          <a:xfrm>
            <a:off x="336084" y="954063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iterative steps that transform raw data into a trained disease detector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11480" y="1315771"/>
            <a:ext cx="5074920" cy="640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1480" y="1315771"/>
            <a:ext cx="4572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1480" y="1315771"/>
            <a:ext cx="5074920" cy="36576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0352" y="1407211"/>
            <a:ext cx="457200" cy="457200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chemeClr val="accent3">
                <a:alpha val="58000"/>
              </a:scheme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" y="140721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42656" y="1491869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542032" y="1407211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are fed in batches to the CNN model for processing.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11480" y="2029003"/>
            <a:ext cx="5074920" cy="640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2029003"/>
            <a:ext cx="45720" cy="64008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1" name="Shape 38"/>
          <p:cNvSpPr/>
          <p:nvPr/>
        </p:nvSpPr>
        <p:spPr>
          <a:xfrm>
            <a:off x="411480" y="2029003"/>
            <a:ext cx="5074920" cy="3657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2" name="Shape 39"/>
          <p:cNvSpPr/>
          <p:nvPr/>
        </p:nvSpPr>
        <p:spPr>
          <a:xfrm>
            <a:off x="530352" y="2120443"/>
            <a:ext cx="457200" cy="457200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chemeClr val="accent2">
                <a:lumMod val="60000"/>
                <a:lumOff val="40000"/>
                <a:alpha val="58000"/>
              </a:scheme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0352" y="212044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42656" y="22051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542032" y="2120443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makes predictions using its current weight configuration.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11480" y="2742235"/>
            <a:ext cx="5074920" cy="640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11480" y="2742235"/>
            <a:ext cx="45720" cy="64008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8" name="Shape 45"/>
          <p:cNvSpPr/>
          <p:nvPr/>
        </p:nvSpPr>
        <p:spPr>
          <a:xfrm>
            <a:off x="411480" y="2742235"/>
            <a:ext cx="5074920" cy="3657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49" name="Shape 46"/>
          <p:cNvSpPr/>
          <p:nvPr/>
        </p:nvSpPr>
        <p:spPr>
          <a:xfrm>
            <a:off x="530352" y="2833675"/>
            <a:ext cx="457200" cy="457200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chemeClr val="accent2">
                <a:lumMod val="60000"/>
                <a:lumOff val="40000"/>
                <a:alpha val="58000"/>
              </a:scheme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" y="28336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51" name="Text 48"/>
          <p:cNvSpPr/>
          <p:nvPr/>
        </p:nvSpPr>
        <p:spPr>
          <a:xfrm>
            <a:off x="1042656" y="2918333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Loss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542032" y="2833675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difference between the model's predictions and true labels.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11480" y="3455467"/>
            <a:ext cx="5074920" cy="640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3455467"/>
            <a:ext cx="45720" cy="64008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5" name="Shape 52"/>
          <p:cNvSpPr/>
          <p:nvPr/>
        </p:nvSpPr>
        <p:spPr>
          <a:xfrm>
            <a:off x="411480" y="3455467"/>
            <a:ext cx="5074920" cy="3657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6" name="Shape 53"/>
          <p:cNvSpPr/>
          <p:nvPr/>
        </p:nvSpPr>
        <p:spPr>
          <a:xfrm>
            <a:off x="530352" y="3552962"/>
            <a:ext cx="457200" cy="457200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chemeClr val="accent2">
                <a:lumMod val="60000"/>
                <a:lumOff val="40000"/>
                <a:alpha val="58000"/>
              </a:schemeClr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57" name="Text 54"/>
          <p:cNvSpPr/>
          <p:nvPr/>
        </p:nvSpPr>
        <p:spPr>
          <a:xfrm>
            <a:off x="530352" y="354690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58" name="Text 55"/>
          <p:cNvSpPr/>
          <p:nvPr/>
        </p:nvSpPr>
        <p:spPr>
          <a:xfrm>
            <a:off x="1042656" y="363156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2542032" y="3546907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internal weights to minimize prediction errors over time.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411480" y="4168699"/>
            <a:ext cx="5074920" cy="640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4168699"/>
            <a:ext cx="4572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11480" y="4168699"/>
            <a:ext cx="5074920" cy="36576"/>
          </a:xfrm>
          <a:prstGeom prst="rect">
            <a:avLst/>
          </a:prstGeom>
          <a:solidFill>
            <a:schemeClr val="accent3"/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30352" y="4260139"/>
            <a:ext cx="457200" cy="457200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chemeClr val="accent3">
                <a:alpha val="58000"/>
              </a:scheme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0352" y="42601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>
              <a:solidFill>
                <a:schemeClr val="accent3"/>
              </a:solidFill>
            </a:endParaRPr>
          </a:p>
        </p:txBody>
      </p:sp>
      <p:sp>
        <p:nvSpPr>
          <p:cNvPr id="65" name="Text 62"/>
          <p:cNvSpPr/>
          <p:nvPr/>
        </p:nvSpPr>
        <p:spPr>
          <a:xfrm>
            <a:off x="1042656" y="4344797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Epochs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2542032" y="4260139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process repeats until model accuracy converges to optimal.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5784339" y="1570101"/>
            <a:ext cx="3063240" cy="3008981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784339" y="1570101"/>
            <a:ext cx="45720" cy="3008981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784339" y="1570101"/>
            <a:ext cx="306324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948931" y="1698117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6168387" y="1999869"/>
            <a:ext cx="2286000" cy="34747"/>
          </a:xfrm>
          <a:prstGeom prst="rect">
            <a:avLst/>
          </a:prstGeom>
          <a:solidFill>
            <a:srgbClr val="C9A84C">
              <a:alpha val="7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921499" y="2246757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6982203" y="2246757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5921499" y="2722245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050" dirty="0"/>
          </a:p>
        </p:txBody>
      </p:sp>
      <p:sp>
        <p:nvSpPr>
          <p:cNvPr id="76" name="Text 73"/>
          <p:cNvSpPr/>
          <p:nvPr/>
        </p:nvSpPr>
        <p:spPr>
          <a:xfrm>
            <a:off x="6973059" y="2727445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Crossentropy</a:t>
            </a:r>
            <a:endParaRPr lang="en-US" sz="1050" dirty="0"/>
          </a:p>
        </p:txBody>
      </p:sp>
      <p:sp>
        <p:nvSpPr>
          <p:cNvPr id="77" name="Text 74"/>
          <p:cNvSpPr/>
          <p:nvPr/>
        </p:nvSpPr>
        <p:spPr>
          <a:xfrm>
            <a:off x="5921499" y="3197733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6982203" y="3197733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scheduling</a:t>
            </a:r>
            <a:endParaRPr lang="en-US" sz="1050" dirty="0"/>
          </a:p>
        </p:txBody>
      </p:sp>
      <p:sp>
        <p:nvSpPr>
          <p:cNvPr id="79" name="Text 76"/>
          <p:cNvSpPr/>
          <p:nvPr/>
        </p:nvSpPr>
        <p:spPr>
          <a:xfrm>
            <a:off x="5921499" y="3673221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50" dirty="0"/>
          </a:p>
        </p:txBody>
      </p:sp>
      <p:sp>
        <p:nvSpPr>
          <p:cNvPr id="80" name="Text 77"/>
          <p:cNvSpPr/>
          <p:nvPr/>
        </p:nvSpPr>
        <p:spPr>
          <a:xfrm>
            <a:off x="6982203" y="3673221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gradient descent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5921499" y="414870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6976081" y="4148709"/>
            <a:ext cx="17178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training iterations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51576" y="-123444"/>
            <a:ext cx="4206240" cy="3154680"/>
          </a:xfrm>
          <a:prstGeom prst="ellipse">
            <a:avLst/>
          </a:prstGeom>
          <a:solidFill>
            <a:srgbClr val="3E6649">
              <a:alpha val="5000"/>
            </a:srgbClr>
          </a:solidFill>
          <a:ln w="12700">
            <a:solidFill>
              <a:srgbClr val="3E6649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36285" y="10973"/>
            <a:ext cx="3803904" cy="2852928"/>
          </a:xfrm>
          <a:prstGeom prst="ellipse">
            <a:avLst/>
          </a:prstGeom>
          <a:solidFill>
            <a:srgbClr val="3E6649">
              <a:alpha val="8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0994" y="145390"/>
            <a:ext cx="3401568" cy="2551176"/>
          </a:xfrm>
          <a:prstGeom prst="ellipse">
            <a:avLst/>
          </a:prstGeom>
          <a:solidFill>
            <a:srgbClr val="3E6649">
              <a:alpha val="11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5702" y="279806"/>
            <a:ext cx="2999232" cy="2249424"/>
          </a:xfrm>
          <a:prstGeom prst="ellipse">
            <a:avLst/>
          </a:prstGeom>
          <a:solidFill>
            <a:srgbClr val="3E6649">
              <a:alpha val="14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0411" y="414223"/>
            <a:ext cx="2596896" cy="1947672"/>
          </a:xfrm>
          <a:prstGeom prst="ellipse">
            <a:avLst/>
          </a:prstGeom>
          <a:solidFill>
            <a:srgbClr val="3E6649">
              <a:alpha val="17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548640"/>
            <a:ext cx="2194560" cy="1645920"/>
          </a:xfrm>
          <a:prstGeom prst="ellipse">
            <a:avLst/>
          </a:prstGeom>
          <a:solidFill>
            <a:srgbClr val="3E6649">
              <a:alpha val="20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506163"/>
            <a:ext cx="59253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506163"/>
            <a:ext cx="592531" cy="23701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23060" y="4456786"/>
            <a:ext cx="54315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3060" y="4456786"/>
            <a:ext cx="543154" cy="21726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4407408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4407408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2424" y="4315236"/>
            <a:ext cx="4016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2424" y="4315236"/>
            <a:ext cx="401604" cy="16064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03904" y="4282318"/>
            <a:ext cx="36868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3904" y="4282318"/>
            <a:ext cx="368686" cy="147474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28253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EVALUATION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4252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Results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789953"/>
            <a:ext cx="1463040" cy="34747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3"/>
          <p:cNvSpPr/>
          <p:nvPr/>
        </p:nvSpPr>
        <p:spPr>
          <a:xfrm>
            <a:off x="87803" y="9419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performance metrics — accuracy, loss, and per-class predictions</a:t>
            </a: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72095" y="1260731"/>
            <a:ext cx="2888454" cy="250964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909" y="2449451"/>
            <a:ext cx="2158293" cy="334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7432" y="3850469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 ·  Validation Accuracy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482837" y="2449451"/>
            <a:ext cx="2158293" cy="334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170360" y="3850469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 ·  Validation Loss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35765" y="2449451"/>
            <a:ext cx="2158293" cy="334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023288" y="3850469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Prediction Performance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35600" y="4124789"/>
            <a:ext cx="2724912" cy="68580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5600" y="4124789"/>
            <a:ext cx="45720" cy="68580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5600" y="4124789"/>
            <a:ext cx="2724912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4036" y="4198061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94034" y="4466325"/>
            <a:ext cx="26181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correct predictions across all disease classes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188528" y="4124789"/>
            <a:ext cx="2724912" cy="68580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88528" y="4124789"/>
            <a:ext cx="45720" cy="68580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88528" y="4124789"/>
            <a:ext cx="2724912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46964" y="4198061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246962" y="4466325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rate per individual disease class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041456" y="4124789"/>
            <a:ext cx="2724912" cy="68580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41456" y="4124789"/>
            <a:ext cx="45720" cy="685800"/>
          </a:xfrm>
          <a:prstGeom prst="rect">
            <a:avLst/>
          </a:prstGeom>
          <a:solidFill>
            <a:srgbClr val="E2C97A">
              <a:alpha val="88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41456" y="4124789"/>
            <a:ext cx="2724912" cy="36576"/>
          </a:xfrm>
          <a:prstGeom prst="rect">
            <a:avLst/>
          </a:prstGeom>
          <a:solidFill>
            <a:srgbClr val="E2C97A">
              <a:alpha val="65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99892" y="4198061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099890" y="4466325"/>
            <a:ext cx="261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completeness — minimizing missed cases</a:t>
            </a:r>
            <a:endParaRPr lang="en-US" sz="1000" dirty="0"/>
          </a:p>
        </p:txBody>
      </p:sp>
      <p:sp>
        <p:nvSpPr>
          <p:cNvPr id="84" name="Shape 34">
            <a:extLst>
              <a:ext uri="{FF2B5EF4-FFF2-40B4-BE49-F238E27FC236}">
                <a16:creationId xmlns:a16="http://schemas.microsoft.com/office/drawing/2014/main" id="{1D546981-0EC6-FE25-9F43-9EA7642465FC}"/>
              </a:ext>
            </a:extLst>
          </p:cNvPr>
          <p:cNvSpPr/>
          <p:nvPr/>
        </p:nvSpPr>
        <p:spPr>
          <a:xfrm>
            <a:off x="3119094" y="1260731"/>
            <a:ext cx="2888454" cy="250964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54FFA16D-0ABC-58FF-C78B-4961BB3CE5F6}"/>
              </a:ext>
            </a:extLst>
          </p:cNvPr>
          <p:cNvSpPr/>
          <p:nvPr/>
        </p:nvSpPr>
        <p:spPr>
          <a:xfrm>
            <a:off x="6066093" y="1254750"/>
            <a:ext cx="2888454" cy="250964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557784" y="2688336"/>
            <a:ext cx="4023360" cy="3017520"/>
          </a:xfrm>
          <a:prstGeom prst="ellipse">
            <a:avLst/>
          </a:prstGeom>
          <a:solidFill>
            <a:srgbClr val="1E3D24">
              <a:alpha val="3000"/>
            </a:srgbClr>
          </a:solidFill>
          <a:ln w="12700">
            <a:solidFill>
              <a:srgbClr val="1E3D2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73075" y="2822753"/>
            <a:ext cx="3621024" cy="2715768"/>
          </a:xfrm>
          <a:prstGeom prst="ellipse">
            <a:avLst/>
          </a:prstGeom>
          <a:solidFill>
            <a:srgbClr val="1E3D24">
              <a:alpha val="6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88366" y="2957170"/>
            <a:ext cx="3218688" cy="2414016"/>
          </a:xfrm>
          <a:prstGeom prst="ellipse">
            <a:avLst/>
          </a:prstGeom>
          <a:solidFill>
            <a:srgbClr val="1E3D24">
              <a:alpha val="9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3658" y="3091586"/>
            <a:ext cx="2816352" cy="2112264"/>
          </a:xfrm>
          <a:prstGeom prst="ellipse">
            <a:avLst/>
          </a:prstGeom>
          <a:solidFill>
            <a:srgbClr val="1E3D24">
              <a:alpha val="12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" y="3226003"/>
            <a:ext cx="2414016" cy="1810512"/>
          </a:xfrm>
          <a:prstGeom prst="ellipse">
            <a:avLst/>
          </a:prstGeom>
          <a:solidFill>
            <a:srgbClr val="1E3D24">
              <a:alpha val="15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360420"/>
            <a:ext cx="2011680" cy="1508760"/>
          </a:xfrm>
          <a:prstGeom prst="ellipse">
            <a:avLst/>
          </a:prstGeom>
          <a:solidFill>
            <a:srgbClr val="1E3D24">
              <a:alpha val="18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9952" y="506212"/>
            <a:ext cx="28675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9952" y="506212"/>
            <a:ext cx="286756" cy="1147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2825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 ·  PREDICTIONS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Prediction Results</a:t>
            </a:r>
            <a:endParaRPr lang="en-US" sz="2900" dirty="0"/>
          </a:p>
        </p:txBody>
      </p:sp>
      <p:sp>
        <p:nvSpPr>
          <p:cNvPr id="33" name="Shape 31"/>
          <p:cNvSpPr/>
          <p:nvPr/>
        </p:nvSpPr>
        <p:spPr>
          <a:xfrm>
            <a:off x="566928" y="780778"/>
            <a:ext cx="1463040" cy="34747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3"/>
          <p:cNvSpPr/>
          <p:nvPr/>
        </p:nvSpPr>
        <p:spPr>
          <a:xfrm>
            <a:off x="309412" y="857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examples — the model classifying unseen leaf images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95020" y="1170432"/>
            <a:ext cx="2713939" cy="294304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2368296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" y="4204914"/>
            <a:ext cx="2724912" cy="68580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4204914"/>
            <a:ext cx="45720" cy="68580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4204914"/>
            <a:ext cx="2724912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429635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Leaf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1208" y="457067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Healthy ✓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47948" y="1170432"/>
            <a:ext cx="2713939" cy="294304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9856" y="2368296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36976" y="4204914"/>
            <a:ext cx="2724912" cy="68580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36976" y="4204914"/>
            <a:ext cx="45720" cy="68580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36976" y="4204914"/>
            <a:ext cx="2724912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74136" y="429635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3374136" y="457067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Early Blight ✓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100874" y="1170432"/>
            <a:ext cx="2713941" cy="294304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2784" y="2368296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089904" y="4204914"/>
            <a:ext cx="2724912" cy="68580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9904" y="4204914"/>
            <a:ext cx="45720" cy="685800"/>
          </a:xfrm>
          <a:prstGeom prst="rect">
            <a:avLst/>
          </a:prstGeom>
          <a:solidFill>
            <a:srgbClr val="E2C97A">
              <a:alpha val="88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9904" y="4204914"/>
            <a:ext cx="2724912" cy="36576"/>
          </a:xfrm>
          <a:prstGeom prst="rect">
            <a:avLst/>
          </a:prstGeom>
          <a:solidFill>
            <a:srgbClr val="E2C97A">
              <a:alpha val="65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27064" y="429635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Scorch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227064" y="457067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Leaf Scorch ✓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566928" y="4882896"/>
            <a:ext cx="8028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0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ai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371600"/>
            <a:ext cx="7315200" cy="6858000"/>
          </a:xfrm>
          <a:prstGeom prst="ellipse">
            <a:avLst/>
          </a:prstGeom>
          <a:solidFill>
            <a:srgbClr val="0A1A0D">
              <a:alpha val="78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0" y="-914400"/>
            <a:ext cx="7315200" cy="6858000"/>
          </a:xfrm>
          <a:prstGeom prst="ellipse">
            <a:avLst/>
          </a:prstGeom>
          <a:solidFill>
            <a:srgbClr val="0A1A0D">
              <a:alpha val="72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1016" y="105156"/>
            <a:ext cx="6766560" cy="507492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Shape 5"/>
          <p:cNvSpPr/>
          <p:nvPr/>
        </p:nvSpPr>
        <p:spPr>
          <a:xfrm>
            <a:off x="1455725" y="239573"/>
            <a:ext cx="6364224" cy="4773168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9" name="Shape 6"/>
          <p:cNvSpPr/>
          <p:nvPr/>
        </p:nvSpPr>
        <p:spPr>
          <a:xfrm>
            <a:off x="1640434" y="373990"/>
            <a:ext cx="5961888" cy="4471416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Shape 7"/>
          <p:cNvSpPr/>
          <p:nvPr/>
        </p:nvSpPr>
        <p:spPr>
          <a:xfrm>
            <a:off x="1825142" y="508406"/>
            <a:ext cx="5559552" cy="4169664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1" name="Shape 8"/>
          <p:cNvSpPr/>
          <p:nvPr/>
        </p:nvSpPr>
        <p:spPr>
          <a:xfrm>
            <a:off x="2009851" y="642823"/>
            <a:ext cx="5157216" cy="3867912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Shape 9"/>
          <p:cNvSpPr/>
          <p:nvPr/>
        </p:nvSpPr>
        <p:spPr>
          <a:xfrm>
            <a:off x="2194560" y="777240"/>
            <a:ext cx="4754880" cy="356616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" name="Shape 10"/>
          <p:cNvSpPr/>
          <p:nvPr/>
        </p:nvSpPr>
        <p:spPr>
          <a:xfrm>
            <a:off x="2368296" y="928116"/>
            <a:ext cx="4572000" cy="34290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4" name="Shape 11"/>
          <p:cNvSpPr/>
          <p:nvPr/>
        </p:nvSpPr>
        <p:spPr>
          <a:xfrm>
            <a:off x="2553005" y="1062533"/>
            <a:ext cx="4169664" cy="3127248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5" name="Shape 12"/>
          <p:cNvSpPr/>
          <p:nvPr/>
        </p:nvSpPr>
        <p:spPr>
          <a:xfrm>
            <a:off x="2737714" y="1196950"/>
            <a:ext cx="3767328" cy="2825496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6" name="Shape 13"/>
          <p:cNvSpPr/>
          <p:nvPr/>
        </p:nvSpPr>
        <p:spPr>
          <a:xfrm>
            <a:off x="2922422" y="1331366"/>
            <a:ext cx="3364992" cy="2523744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7" name="Shape 14"/>
          <p:cNvSpPr/>
          <p:nvPr/>
        </p:nvSpPr>
        <p:spPr>
          <a:xfrm>
            <a:off x="3107131" y="1465783"/>
            <a:ext cx="2962656" cy="2221992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Shape 15"/>
          <p:cNvSpPr/>
          <p:nvPr/>
        </p:nvSpPr>
        <p:spPr>
          <a:xfrm>
            <a:off x="3291840" y="1600200"/>
            <a:ext cx="2560320" cy="192024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0" name="Shape 27"/>
          <p:cNvSpPr/>
          <p:nvPr/>
        </p:nvSpPr>
        <p:spPr>
          <a:xfrm>
            <a:off x="4937760" y="351861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10528" y="68616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10528" y="68616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76288" y="65690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76288" y="65690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1500000">
            <a:off x="-457200" y="-274320"/>
            <a:ext cx="2011680" cy="73152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6" name="Shape 43"/>
          <p:cNvSpPr/>
          <p:nvPr/>
        </p:nvSpPr>
        <p:spPr>
          <a:xfrm rot="-2880000">
            <a:off x="-182880" y="-457200"/>
            <a:ext cx="1554480" cy="54864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7" name="Shape 44"/>
          <p:cNvSpPr/>
          <p:nvPr/>
        </p:nvSpPr>
        <p:spPr>
          <a:xfrm rot="9300000">
            <a:off x="7589520" y="4389120"/>
            <a:ext cx="2011680" cy="73152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8" name="Shape 45"/>
          <p:cNvSpPr/>
          <p:nvPr/>
        </p:nvSpPr>
        <p:spPr>
          <a:xfrm rot="7920000">
            <a:off x="7772400" y="4251960"/>
            <a:ext cx="1554480" cy="54864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9" name="Text 46"/>
          <p:cNvSpPr/>
          <p:nvPr/>
        </p:nvSpPr>
        <p:spPr>
          <a:xfrm>
            <a:off x="320040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850" dirty="0">
              <a:solidFill>
                <a:schemeClr val="accent3"/>
              </a:solidFill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794760" y="1298448"/>
            <a:ext cx="1554480" cy="34747"/>
          </a:xfrm>
          <a:prstGeom prst="rect">
            <a:avLst/>
          </a:prstGeom>
          <a:solidFill>
            <a:schemeClr val="accent3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1389888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5800" dirty="0"/>
          </a:p>
        </p:txBody>
      </p:sp>
      <p:sp>
        <p:nvSpPr>
          <p:cNvPr id="53" name="Text 50"/>
          <p:cNvSpPr/>
          <p:nvPr/>
        </p:nvSpPr>
        <p:spPr>
          <a:xfrm>
            <a:off x="274320" y="2395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CHATBOT SYSTEM</a:t>
            </a:r>
            <a:endParaRPr lang="en-US" sz="3000" dirty="0">
              <a:solidFill>
                <a:schemeClr val="accent3"/>
              </a:solidFill>
            </a:endParaRPr>
          </a:p>
        </p:txBody>
      </p:sp>
      <p:sp>
        <p:nvSpPr>
          <p:cNvPr id="54" name="Text 5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AI predictions into natural human interaction.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926080" y="3520440"/>
            <a:ext cx="3291840" cy="27432"/>
          </a:xfrm>
          <a:prstGeom prst="rect">
            <a:avLst/>
          </a:prstGeom>
          <a:solidFill>
            <a:schemeClr val="accent3">
              <a:alpha val="72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— AI Agricultural Intelligence System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24223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43016" y="2688336"/>
            <a:ext cx="4023360" cy="3017520"/>
          </a:xfrm>
          <a:prstGeom prst="ellipse">
            <a:avLst/>
          </a:prstGeom>
          <a:solidFill>
            <a:srgbClr val="3E6649">
              <a:alpha val="5000"/>
            </a:srgbClr>
          </a:solidFill>
          <a:ln w="12700">
            <a:solidFill>
              <a:srgbClr val="3E6649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7725" y="2822753"/>
            <a:ext cx="3621024" cy="2715768"/>
          </a:xfrm>
          <a:prstGeom prst="ellipse">
            <a:avLst/>
          </a:prstGeom>
          <a:solidFill>
            <a:srgbClr val="3E6649">
              <a:alpha val="8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2434" y="2957170"/>
            <a:ext cx="3218688" cy="2414016"/>
          </a:xfrm>
          <a:prstGeom prst="ellipse">
            <a:avLst/>
          </a:prstGeom>
          <a:solidFill>
            <a:srgbClr val="3E6649">
              <a:alpha val="11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142" y="3091586"/>
            <a:ext cx="2816352" cy="2112264"/>
          </a:xfrm>
          <a:prstGeom prst="ellipse">
            <a:avLst/>
          </a:prstGeom>
          <a:solidFill>
            <a:srgbClr val="3E6649">
              <a:alpha val="14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1851" y="3226003"/>
            <a:ext cx="2414016" cy="1810512"/>
          </a:xfrm>
          <a:prstGeom prst="ellipse">
            <a:avLst/>
          </a:prstGeom>
          <a:solidFill>
            <a:srgbClr val="3E6649">
              <a:alpha val="17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3360420"/>
            <a:ext cx="2011680" cy="1508760"/>
          </a:xfrm>
          <a:prstGeom prst="ellipse">
            <a:avLst/>
          </a:prstGeom>
          <a:solidFill>
            <a:srgbClr val="3E6649">
              <a:alpha val="20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33059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33059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428670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424281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419892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2825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SYSTEM  ·  INITIAL CONCEPT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6908" y="14807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Chatbot Vision</a:t>
            </a:r>
            <a:endParaRPr lang="en-US" sz="2900" dirty="0"/>
          </a:p>
        </p:txBody>
      </p:sp>
      <p:sp>
        <p:nvSpPr>
          <p:cNvPr id="33" name="Shape 31"/>
          <p:cNvSpPr/>
          <p:nvPr/>
        </p:nvSpPr>
        <p:spPr>
          <a:xfrm>
            <a:off x="499592" y="771792"/>
            <a:ext cx="1463040" cy="34747"/>
          </a:xfrm>
          <a:prstGeom prst="rect">
            <a:avLst/>
          </a:prstGeom>
          <a:solidFill>
            <a:schemeClr val="accent4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Text 33"/>
          <p:cNvSpPr/>
          <p:nvPr/>
        </p:nvSpPr>
        <p:spPr>
          <a:xfrm>
            <a:off x="315468" y="1140411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plan to build conversational AI from scratch using classical NLP techniques</a:t>
            </a:r>
            <a:r>
              <a:rPr lang="en-US" sz="1400" i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1480" y="1143000"/>
            <a:ext cx="5102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1536192"/>
            <a:ext cx="5102352" cy="7315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4">
                <a:alpha val="38000"/>
              </a:scheme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1536192"/>
            <a:ext cx="45720" cy="731520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163356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1877848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the user is communicating from natural language input.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2359152"/>
            <a:ext cx="5102352" cy="7315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4">
                <a:alpha val="38000"/>
              </a:scheme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2359152"/>
            <a:ext cx="45720" cy="731520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245652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Mapping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4360" y="2700808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detected intents to pre-defined conversational responses.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3182112"/>
            <a:ext cx="5102352" cy="7315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4">
                <a:alpha val="38000"/>
              </a:schemeClr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48" name="Shape 46"/>
          <p:cNvSpPr/>
          <p:nvPr/>
        </p:nvSpPr>
        <p:spPr>
          <a:xfrm>
            <a:off x="411480" y="3182112"/>
            <a:ext cx="45720" cy="731520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327948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4360" y="3523768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conversational patterns from collected training data.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11480" y="4005072"/>
            <a:ext cx="5102352" cy="73152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chemeClr val="accent4">
                <a:alpha val="38000"/>
              </a:scheme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4005072"/>
            <a:ext cx="45720" cy="731520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10244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Modeling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594360" y="4346728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system natural language understanding and generation.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99559" y="1536621"/>
            <a:ext cx="3170846" cy="3199971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4501F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99559" y="1536621"/>
            <a:ext cx="48782" cy="3199971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99559" y="1536620"/>
            <a:ext cx="3170846" cy="45719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73154" y="1607047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Was Challenging</a:t>
            </a:r>
            <a:endParaRPr lang="en-US" sz="1150" dirty="0">
              <a:solidFill>
                <a:schemeClr val="accent4"/>
              </a:solidFill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192610" y="1948825"/>
            <a:ext cx="2286000" cy="34747"/>
          </a:xfrm>
          <a:prstGeom prst="rect">
            <a:avLst/>
          </a:prstGeom>
          <a:solidFill>
            <a:schemeClr val="accent4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60559" y="2125522"/>
            <a:ext cx="164592" cy="164592"/>
          </a:xfrm>
          <a:prstGeom prst="rect">
            <a:avLst/>
          </a:prstGeom>
          <a:solidFill>
            <a:srgbClr val="C4501F">
              <a:alpha val="78000"/>
            </a:srgbClr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74322" y="19317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NLP training datasets required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960559" y="2692450"/>
            <a:ext cx="164592" cy="164592"/>
          </a:xfrm>
          <a:prstGeom prst="rect">
            <a:avLst/>
          </a:prstGeom>
          <a:solidFill>
            <a:srgbClr val="C4501F">
              <a:alpha val="78000"/>
            </a:srgbClr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0" y="241401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74322" y="249867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 computational resources needed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960559" y="3259378"/>
            <a:ext cx="164592" cy="164592"/>
          </a:xfrm>
          <a:prstGeom prst="rect">
            <a:avLst/>
          </a:prstGeom>
          <a:solidFill>
            <a:srgbClr val="C4501F">
              <a:alpha val="78000"/>
            </a:srgbClr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0" y="298094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174322" y="306560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development timeline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960559" y="3826306"/>
            <a:ext cx="164592" cy="164592"/>
          </a:xfrm>
          <a:prstGeom prst="rect">
            <a:avLst/>
          </a:prstGeom>
          <a:solidFill>
            <a:srgbClr val="C4501F">
              <a:alpha val="78000"/>
            </a:srgbClr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354787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174322" y="363252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Egyptian dialect complexity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960559" y="4393234"/>
            <a:ext cx="164592" cy="164592"/>
          </a:xfrm>
          <a:prstGeom prst="rect">
            <a:avLst/>
          </a:prstGeom>
          <a:solidFill>
            <a:srgbClr val="C4501F">
              <a:alpha val="78000"/>
            </a:srgbClr>
          </a:solidFill>
          <a:ln w="12700">
            <a:solidFill>
              <a:srgbClr val="C4501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0" y="41148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74322" y="419945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context handling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389120"/>
            <a:ext cx="4114800" cy="0"/>
          </a:xfrm>
          <a:prstGeom prst="line">
            <a:avLst/>
          </a:prstGeom>
          <a:noFill/>
          <a:ln w="12700">
            <a:solidFill>
              <a:srgbClr val="3E6649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31596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31596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426110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426110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420624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420624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415137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15137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410382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410382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406725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06725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92219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SYSTEM  ·  RESEARCH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0308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AI Frameworks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457200" y="796014"/>
            <a:ext cx="1463040" cy="34747"/>
          </a:xfrm>
          <a:prstGeom prst="rect">
            <a:avLst/>
          </a:prstGeom>
          <a:solidFill>
            <a:schemeClr val="accent4"/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</p:sp>
      <p:sp>
        <p:nvSpPr>
          <p:cNvPr id="29" name="Text 27"/>
          <p:cNvSpPr/>
          <p:nvPr/>
        </p:nvSpPr>
        <p:spPr>
          <a:xfrm>
            <a:off x="292853" y="9727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Rasa and Ollama before selecting the optimal solution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84048" y="1309714"/>
            <a:ext cx="3958178" cy="3014486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309714"/>
            <a:ext cx="45719" cy="3014486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309712"/>
            <a:ext cx="3958178" cy="45719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1309714"/>
            <a:ext cx="3958178" cy="3014486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309714"/>
            <a:ext cx="45719" cy="3014486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1309712"/>
            <a:ext cx="3958178" cy="45719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1353312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502920" y="1972621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NLP Framework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" y="2523108"/>
            <a:ext cx="201168" cy="201168"/>
          </a:xfrm>
          <a:prstGeom prst="ellipse">
            <a:avLst/>
          </a:prstGeom>
          <a:solidFill>
            <a:srgbClr val="6E9B7A">
              <a:alpha val="80000"/>
            </a:srgbClr>
          </a:solidFill>
          <a:ln w="12700">
            <a:solidFill>
              <a:srgbClr val="6E9B7A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24927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control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" y="2998596"/>
            <a:ext cx="201168" cy="201168"/>
          </a:xfrm>
          <a:prstGeom prst="ellipse">
            <a:avLst/>
          </a:prstGeom>
          <a:solidFill>
            <a:srgbClr val="6E9B7A">
              <a:alpha val="80000"/>
            </a:srgbClr>
          </a:solidFill>
          <a:ln w="12700">
            <a:solidFill>
              <a:srgbClr val="6E9B7A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29681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intent system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" y="3474084"/>
            <a:ext cx="201168" cy="201168"/>
          </a:xfrm>
          <a:prstGeom prst="ellipse">
            <a:avLst/>
          </a:prstGeom>
          <a:solidFill>
            <a:srgbClr val="6E9B7A">
              <a:alpha val="80000"/>
            </a:srgbClr>
          </a:solidFill>
          <a:ln w="12700">
            <a:solidFill>
              <a:srgbClr val="6E9B7A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34436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solution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" y="3949572"/>
            <a:ext cx="201168" cy="201168"/>
          </a:xfrm>
          <a:prstGeom prst="ellipse">
            <a:avLst/>
          </a:prstGeom>
          <a:solidFill>
            <a:srgbClr val="6E9B7A">
              <a:alpha val="80000"/>
            </a:srgbClr>
          </a:solidFill>
          <a:ln w="12700">
            <a:solidFill>
              <a:srgbClr val="6E9B7A">
                <a:alpha val="6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39191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NLP data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12373" y="1349238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4751540" y="1972621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Large Language Models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30086" y="2225121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0C0"/>
                </a:solidFill>
              </a:rPr>
              <a:t>INITIALLY SELECTED</a:t>
            </a:r>
          </a:p>
        </p:txBody>
      </p:sp>
      <p:sp>
        <p:nvSpPr>
          <p:cNvPr id="49" name="Shape 47"/>
          <p:cNvSpPr/>
          <p:nvPr/>
        </p:nvSpPr>
        <p:spPr>
          <a:xfrm>
            <a:off x="4828032" y="2506424"/>
            <a:ext cx="201168" cy="20116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24881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28032" y="2981912"/>
            <a:ext cx="201168" cy="20116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8928" y="2963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28032" y="3457400"/>
            <a:ext cx="201168" cy="20116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38928" y="34391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 support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28032" y="3932888"/>
            <a:ext cx="201168" cy="201168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38928" y="39146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selected for testing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72058" y="4514393"/>
            <a:ext cx="8211312" cy="347472"/>
          </a:xfrm>
          <a:prstGeom prst="rect">
            <a:avLst/>
          </a:prstGeom>
          <a:solidFill>
            <a:srgbClr val="0A1A0D">
              <a:alpha val="88000"/>
            </a:srgbClr>
          </a:solidFill>
          <a:ln w="12700">
            <a:solidFill>
              <a:srgbClr val="7A5A1E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2058" y="4514393"/>
            <a:ext cx="45720" cy="347472"/>
          </a:xfrm>
          <a:prstGeom prst="rect">
            <a:avLst/>
          </a:prstGeom>
          <a:solidFill>
            <a:srgbClr val="7A5A1E">
              <a:alpha val="88000"/>
            </a:srgbClr>
          </a:solidFill>
          <a:ln w="12700">
            <a:solidFill>
              <a:srgbClr val="7A5A1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4938" y="4587545"/>
            <a:ext cx="8028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testing Ollama, performance limitations in Arabic language support prompted the team to explore further alternatives.</a:t>
            </a:r>
            <a:endParaRPr lang="en-US" sz="105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F3B28A-E3B5-AC0B-69B1-FBABEC86077D}"/>
              </a:ext>
            </a:extLst>
          </p:cNvPr>
          <p:cNvSpPr txBox="1"/>
          <p:nvPr/>
        </p:nvSpPr>
        <p:spPr>
          <a:xfrm>
            <a:off x="964258" y="2198055"/>
            <a:ext cx="30100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accent5"/>
                </a:solidFill>
              </a:rPr>
              <a:t>INITIALLY EXCLUDED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-5486" y="1"/>
            <a:ext cx="9149486" cy="513984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-374904" y="3465576"/>
            <a:ext cx="3657600" cy="2743200"/>
          </a:xfrm>
          <a:prstGeom prst="ellipse">
            <a:avLst/>
          </a:prstGeom>
          <a:solidFill>
            <a:srgbClr val="6E9B7A">
              <a:alpha val="3000"/>
            </a:srgbClr>
          </a:solidFill>
          <a:ln w="12700">
            <a:solidFill>
              <a:srgbClr val="6E9B7A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-190195" y="3599993"/>
            <a:ext cx="3255264" cy="2441448"/>
          </a:xfrm>
          <a:prstGeom prst="ellipse">
            <a:avLst/>
          </a:prstGeom>
          <a:solidFill>
            <a:srgbClr val="6E9B7A">
              <a:alpha val="6000"/>
            </a:srgbClr>
          </a:solidFill>
          <a:ln w="12700">
            <a:solidFill>
              <a:srgbClr val="6E9B7A">
                <a:alpha val="2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-5486" y="3734410"/>
            <a:ext cx="2852928" cy="2139696"/>
          </a:xfrm>
          <a:prstGeom prst="ellipse">
            <a:avLst/>
          </a:prstGeom>
          <a:solidFill>
            <a:srgbClr val="6E9B7A">
              <a:alpha val="9000"/>
            </a:srgbClr>
          </a:solidFill>
          <a:ln w="12700">
            <a:solidFill>
              <a:srgbClr val="6E9B7A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9222" y="3868826"/>
            <a:ext cx="2450592" cy="1837944"/>
          </a:xfrm>
          <a:prstGeom prst="ellipse">
            <a:avLst/>
          </a:prstGeom>
          <a:solidFill>
            <a:srgbClr val="6E9B7A">
              <a:alpha val="12000"/>
            </a:srgbClr>
          </a:solidFill>
          <a:ln w="12700">
            <a:solidFill>
              <a:srgbClr val="6E9B7A">
                <a:alpha val="26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931" y="4003243"/>
            <a:ext cx="2048256" cy="1536192"/>
          </a:xfrm>
          <a:prstGeom prst="ellipse">
            <a:avLst/>
          </a:prstGeom>
          <a:solidFill>
            <a:srgbClr val="6E9B7A">
              <a:alpha val="15000"/>
            </a:srgbClr>
          </a:solidFill>
          <a:ln w="12700">
            <a:solidFill>
              <a:srgbClr val="6E9B7A">
                <a:alpha val="2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137660"/>
            <a:ext cx="1645920" cy="1234440"/>
          </a:xfrm>
          <a:prstGeom prst="ellipse">
            <a:avLst/>
          </a:prstGeom>
          <a:solidFill>
            <a:srgbClr val="6E9B7A">
              <a:alpha val="18000"/>
            </a:srgbClr>
          </a:solidFill>
          <a:ln w="12700">
            <a:solidFill>
              <a:srgbClr val="6E9B7A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922199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SYSTEM  ·  FINAL CHOICE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63417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Google Gemma 4</a:t>
            </a:r>
            <a:endParaRPr lang="en-US" sz="2900" dirty="0"/>
          </a:p>
        </p:txBody>
      </p:sp>
      <p:sp>
        <p:nvSpPr>
          <p:cNvPr id="22" name="Shape 19"/>
          <p:cNvSpPr/>
          <p:nvPr/>
        </p:nvSpPr>
        <p:spPr>
          <a:xfrm>
            <a:off x="360309" y="820232"/>
            <a:ext cx="1463040" cy="34747"/>
          </a:xfrm>
          <a:prstGeom prst="rect">
            <a:avLst/>
          </a:prstGeom>
          <a:solidFill>
            <a:schemeClr val="accent4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9222" y="97803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transformed FLORA's conversational quality completely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02132" y="1355250"/>
            <a:ext cx="3284989" cy="3454494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02133" y="1355250"/>
            <a:ext cx="45720" cy="344535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02132" y="1355250"/>
            <a:ext cx="3284989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36085" y="141925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4200" dirty="0"/>
          </a:p>
        </p:txBody>
      </p:sp>
      <p:sp>
        <p:nvSpPr>
          <p:cNvPr id="29" name="Text 26"/>
          <p:cNvSpPr/>
          <p:nvPr/>
        </p:nvSpPr>
        <p:spPr>
          <a:xfrm>
            <a:off x="5736085" y="211384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 DeepMind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56878" y="1355365"/>
            <a:ext cx="2514600" cy="105156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878" y="1355365"/>
            <a:ext cx="45720" cy="105156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6878" y="1355365"/>
            <a:ext cx="251460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4038" y="1446805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Response Quality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94038" y="1830853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more natural, contextually accurate conversational responses.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926926" y="1355365"/>
            <a:ext cx="2514600" cy="105156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926926" y="1355365"/>
            <a:ext cx="45720" cy="105156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926926" y="1355365"/>
            <a:ext cx="2514600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64086" y="1446805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Dialect Support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3064086" y="1830853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Modern Standard Arabic and Egyptian dialect nuances.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56878" y="2550989"/>
            <a:ext cx="2514600" cy="105156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56878" y="2550989"/>
            <a:ext cx="45720" cy="105156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56878" y="2550989"/>
            <a:ext cx="251460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4038" y="2642429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Times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394038" y="3026477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inference delivers near-instant responses to user queries.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926926" y="2550989"/>
            <a:ext cx="2514600" cy="105156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926926" y="2550989"/>
            <a:ext cx="45720" cy="105156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926926" y="2550989"/>
            <a:ext cx="2514600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064086" y="2642429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Understanding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3064086" y="3026477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meaningful conversation context across multiple turns.</a:t>
            </a:r>
            <a:endParaRPr lang="en-US" sz="1000" dirty="0"/>
          </a:p>
        </p:txBody>
      </p:sp>
      <p:sp>
        <p:nvSpPr>
          <p:cNvPr id="50" name="Shape 37">
            <a:extLst>
              <a:ext uri="{FF2B5EF4-FFF2-40B4-BE49-F238E27FC236}">
                <a16:creationId xmlns:a16="http://schemas.microsoft.com/office/drawing/2014/main" id="{322DE803-6562-28D7-D964-ACF94E8C35AC}"/>
              </a:ext>
            </a:extLst>
          </p:cNvPr>
          <p:cNvSpPr/>
          <p:nvPr/>
        </p:nvSpPr>
        <p:spPr>
          <a:xfrm>
            <a:off x="253830" y="3758184"/>
            <a:ext cx="2514600" cy="105156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1" name="Shape 38">
            <a:extLst>
              <a:ext uri="{FF2B5EF4-FFF2-40B4-BE49-F238E27FC236}">
                <a16:creationId xmlns:a16="http://schemas.microsoft.com/office/drawing/2014/main" id="{E455FD46-80ED-275C-131A-4FD61FDFFB18}"/>
              </a:ext>
            </a:extLst>
          </p:cNvPr>
          <p:cNvSpPr/>
          <p:nvPr/>
        </p:nvSpPr>
        <p:spPr>
          <a:xfrm>
            <a:off x="253830" y="3758184"/>
            <a:ext cx="45720" cy="105156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Shape 39">
            <a:extLst>
              <a:ext uri="{FF2B5EF4-FFF2-40B4-BE49-F238E27FC236}">
                <a16:creationId xmlns:a16="http://schemas.microsoft.com/office/drawing/2014/main" id="{B9D87B84-9256-18C2-BA57-9578798CA77E}"/>
              </a:ext>
            </a:extLst>
          </p:cNvPr>
          <p:cNvSpPr/>
          <p:nvPr/>
        </p:nvSpPr>
        <p:spPr>
          <a:xfrm>
            <a:off x="253830" y="3758184"/>
            <a:ext cx="251460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3" name="Text 40">
            <a:extLst>
              <a:ext uri="{FF2B5EF4-FFF2-40B4-BE49-F238E27FC236}">
                <a16:creationId xmlns:a16="http://schemas.microsoft.com/office/drawing/2014/main" id="{68991892-4984-F149-5A59-42D511396A48}"/>
              </a:ext>
            </a:extLst>
          </p:cNvPr>
          <p:cNvSpPr/>
          <p:nvPr/>
        </p:nvSpPr>
        <p:spPr>
          <a:xfrm>
            <a:off x="400320" y="3844686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Efficiency</a:t>
            </a:r>
          </a:p>
        </p:txBody>
      </p:sp>
      <p:sp>
        <p:nvSpPr>
          <p:cNvPr id="54" name="Text 41">
            <a:extLst>
              <a:ext uri="{FF2B5EF4-FFF2-40B4-BE49-F238E27FC236}">
                <a16:creationId xmlns:a16="http://schemas.microsoft.com/office/drawing/2014/main" id="{58F220AB-D3F2-D3B8-98BD-33FB075D2E20}"/>
              </a:ext>
            </a:extLst>
          </p:cNvPr>
          <p:cNvSpPr/>
          <p:nvPr/>
        </p:nvSpPr>
        <p:spPr>
          <a:xfrm>
            <a:off x="395533" y="4228404"/>
            <a:ext cx="24875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Lightweight architecture enables smooth deployment within our system</a:t>
            </a:r>
          </a:p>
        </p:txBody>
      </p:sp>
      <p:sp>
        <p:nvSpPr>
          <p:cNvPr id="55" name="Shape 42">
            <a:extLst>
              <a:ext uri="{FF2B5EF4-FFF2-40B4-BE49-F238E27FC236}">
                <a16:creationId xmlns:a16="http://schemas.microsoft.com/office/drawing/2014/main" id="{21EFDFF4-0ADB-FA84-9EF7-C632AC396727}"/>
              </a:ext>
            </a:extLst>
          </p:cNvPr>
          <p:cNvSpPr/>
          <p:nvPr/>
        </p:nvSpPr>
        <p:spPr>
          <a:xfrm>
            <a:off x="2923878" y="3758184"/>
            <a:ext cx="2514600" cy="105156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56" name="Shape 43">
            <a:extLst>
              <a:ext uri="{FF2B5EF4-FFF2-40B4-BE49-F238E27FC236}">
                <a16:creationId xmlns:a16="http://schemas.microsoft.com/office/drawing/2014/main" id="{E883498D-E43C-0F81-0383-8C09BBAB1EAA}"/>
              </a:ext>
            </a:extLst>
          </p:cNvPr>
          <p:cNvSpPr/>
          <p:nvPr/>
        </p:nvSpPr>
        <p:spPr>
          <a:xfrm>
            <a:off x="2923878" y="3758184"/>
            <a:ext cx="45720" cy="105156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57" name="Shape 44">
            <a:extLst>
              <a:ext uri="{FF2B5EF4-FFF2-40B4-BE49-F238E27FC236}">
                <a16:creationId xmlns:a16="http://schemas.microsoft.com/office/drawing/2014/main" id="{2B3CE05F-2DA9-3472-4442-7B74CDAF1849}"/>
              </a:ext>
            </a:extLst>
          </p:cNvPr>
          <p:cNvSpPr/>
          <p:nvPr/>
        </p:nvSpPr>
        <p:spPr>
          <a:xfrm>
            <a:off x="2923878" y="3758184"/>
            <a:ext cx="2514600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58" name="Text 45">
            <a:extLst>
              <a:ext uri="{FF2B5EF4-FFF2-40B4-BE49-F238E27FC236}">
                <a16:creationId xmlns:a16="http://schemas.microsoft.com/office/drawing/2014/main" id="{ABD34012-161D-6021-EAD3-EA0165FCA63F}"/>
              </a:ext>
            </a:extLst>
          </p:cNvPr>
          <p:cNvSpPr/>
          <p:nvPr/>
        </p:nvSpPr>
        <p:spPr>
          <a:xfrm>
            <a:off x="3061038" y="384962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Advice</a:t>
            </a: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67965928-188A-4BFA-9D3D-481245CCE383}"/>
              </a:ext>
            </a:extLst>
          </p:cNvPr>
          <p:cNvSpPr/>
          <p:nvPr/>
        </p:nvSpPr>
        <p:spPr>
          <a:xfrm>
            <a:off x="3061038" y="423367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Translates complex diagnostics into clear treatment steps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45AB3B-D782-3E5C-39B8-D5B4C5D88BFD}"/>
              </a:ext>
            </a:extLst>
          </p:cNvPr>
          <p:cNvSpPr txBox="1"/>
          <p:nvPr/>
        </p:nvSpPr>
        <p:spPr>
          <a:xfrm>
            <a:off x="6017271" y="2467482"/>
            <a:ext cx="2514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Serving as the cognitive core of FLORA Gemma 4 bridges the gap between complex AI diagnostics and practical farming advice Its advanced reasoning capabilities provide an intelligent, reliable, and highly accessible agricultural consultant.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38912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33059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33059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428670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424281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419892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91614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SYSTEM  ·  TREATMENT GUIDANCE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434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Guidance System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24298" y="809226"/>
            <a:ext cx="1463040" cy="34747"/>
          </a:xfrm>
          <a:prstGeom prst="rect">
            <a:avLst/>
          </a:prstGeom>
          <a:solidFill>
            <a:schemeClr val="accent4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89" y="9902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from disease detection to follow-up support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26861" y="1315769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861" y="1315769"/>
            <a:ext cx="45720" cy="804672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861" y="1315769"/>
            <a:ext cx="507492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5733" y="1425497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733" y="1425497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2389" y="1425497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2389" y="1772969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identifies the plant disease from the uploaded leaf image.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26861" y="2211881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6861" y="2211881"/>
            <a:ext cx="45720" cy="804672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6861" y="2211881"/>
            <a:ext cx="5074920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5733" y="2321609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733" y="2321609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2389" y="2321609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Explanation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2389" y="2669081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explains the disease clearly in simple, accessible Arabic.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26861" y="3107993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6861" y="3107993"/>
            <a:ext cx="45720" cy="804672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6861" y="3107993"/>
            <a:ext cx="5074920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5733" y="3217721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733" y="3217721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22389" y="3217721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22389" y="3565193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treatment recommendations provided to the user.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26861" y="4004105"/>
            <a:ext cx="5074920" cy="804672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6861" y="4004105"/>
            <a:ext cx="45720" cy="804672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6861" y="4004105"/>
            <a:ext cx="5074920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5733" y="4113833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5733" y="411383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22389" y="4113833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Support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22389" y="4461305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follow-up questions and receive continued guidance.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343993" y="1826438"/>
            <a:ext cx="3673146" cy="247724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0" y="26563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0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web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371600"/>
            <a:ext cx="7315200" cy="6858000"/>
          </a:xfrm>
          <a:prstGeom prst="ellipse">
            <a:avLst/>
          </a:prstGeom>
          <a:solidFill>
            <a:srgbClr val="0A1A0D">
              <a:alpha val="78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0" y="-914400"/>
            <a:ext cx="7315200" cy="6858000"/>
          </a:xfrm>
          <a:prstGeom prst="ellipse">
            <a:avLst/>
          </a:prstGeom>
          <a:solidFill>
            <a:srgbClr val="0A1A0D">
              <a:alpha val="72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1016" y="105156"/>
            <a:ext cx="6766560" cy="507492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Shape 5"/>
          <p:cNvSpPr/>
          <p:nvPr/>
        </p:nvSpPr>
        <p:spPr>
          <a:xfrm>
            <a:off x="1455725" y="239573"/>
            <a:ext cx="6364224" cy="4773168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9" name="Shape 6"/>
          <p:cNvSpPr/>
          <p:nvPr/>
        </p:nvSpPr>
        <p:spPr>
          <a:xfrm>
            <a:off x="1640434" y="373990"/>
            <a:ext cx="5961888" cy="447141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Shape 7"/>
          <p:cNvSpPr/>
          <p:nvPr/>
        </p:nvSpPr>
        <p:spPr>
          <a:xfrm>
            <a:off x="1825142" y="508406"/>
            <a:ext cx="5559552" cy="416966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1" name="Shape 8"/>
          <p:cNvSpPr/>
          <p:nvPr/>
        </p:nvSpPr>
        <p:spPr>
          <a:xfrm>
            <a:off x="2009851" y="642823"/>
            <a:ext cx="5157216" cy="386791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Shape 9"/>
          <p:cNvSpPr/>
          <p:nvPr/>
        </p:nvSpPr>
        <p:spPr>
          <a:xfrm>
            <a:off x="2194560" y="777240"/>
            <a:ext cx="4754880" cy="356616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" name="Shape 10"/>
          <p:cNvSpPr/>
          <p:nvPr/>
        </p:nvSpPr>
        <p:spPr>
          <a:xfrm>
            <a:off x="2368296" y="928116"/>
            <a:ext cx="4572000" cy="3429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4" name="Shape 11"/>
          <p:cNvSpPr/>
          <p:nvPr/>
        </p:nvSpPr>
        <p:spPr>
          <a:xfrm>
            <a:off x="2553005" y="1062533"/>
            <a:ext cx="4169664" cy="3127248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5" name="Shape 12"/>
          <p:cNvSpPr/>
          <p:nvPr/>
        </p:nvSpPr>
        <p:spPr>
          <a:xfrm>
            <a:off x="2737714" y="1196950"/>
            <a:ext cx="3767328" cy="282549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6" name="Shape 13"/>
          <p:cNvSpPr/>
          <p:nvPr/>
        </p:nvSpPr>
        <p:spPr>
          <a:xfrm>
            <a:off x="2922422" y="1331366"/>
            <a:ext cx="3364992" cy="252374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7" name="Shape 14"/>
          <p:cNvSpPr/>
          <p:nvPr/>
        </p:nvSpPr>
        <p:spPr>
          <a:xfrm>
            <a:off x="3107131" y="1465783"/>
            <a:ext cx="2962656" cy="222199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Shape 15"/>
          <p:cNvSpPr/>
          <p:nvPr/>
        </p:nvSpPr>
        <p:spPr>
          <a:xfrm>
            <a:off x="3291840" y="1600200"/>
            <a:ext cx="2560320" cy="192024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0" name="Shape 27"/>
          <p:cNvSpPr/>
          <p:nvPr/>
        </p:nvSpPr>
        <p:spPr>
          <a:xfrm>
            <a:off x="4937760" y="351861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0" y="72420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10528" y="68616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10528" y="68616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76288" y="65690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76288" y="65690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1500000">
            <a:off x="-457200" y="-274320"/>
            <a:ext cx="2011680" cy="731520"/>
          </a:xfrm>
          <a:prstGeom prst="ellipse">
            <a:avLst/>
          </a:prstGeom>
          <a:solidFill>
            <a:srgbClr val="E2C97A">
              <a:alpha val="40000"/>
            </a:srgbClr>
          </a:solidFill>
          <a:ln w="12700">
            <a:solidFill>
              <a:srgbClr val="E2C97A">
                <a:alpha val="32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-2880000">
            <a:off x="-182880" y="-457200"/>
            <a:ext cx="1554480" cy="548640"/>
          </a:xfrm>
          <a:prstGeom prst="ellipse">
            <a:avLst/>
          </a:prstGeom>
          <a:solidFill>
            <a:srgbClr val="E2C97A">
              <a:alpha val="32000"/>
            </a:srgbClr>
          </a:solidFill>
          <a:ln w="12700">
            <a:solidFill>
              <a:srgbClr val="E2C97A">
                <a:alpha val="24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9300000">
            <a:off x="7589520" y="4389120"/>
            <a:ext cx="2011680" cy="731520"/>
          </a:xfrm>
          <a:prstGeom prst="ellipse">
            <a:avLst/>
          </a:prstGeom>
          <a:solidFill>
            <a:srgbClr val="E2C97A">
              <a:alpha val="40000"/>
            </a:srgbClr>
          </a:solidFill>
          <a:ln w="12700">
            <a:solidFill>
              <a:srgbClr val="E2C97A">
                <a:alpha val="32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rot="7920000">
            <a:off x="7772400" y="4251960"/>
            <a:ext cx="1554480" cy="548640"/>
          </a:xfrm>
          <a:prstGeom prst="ellipse">
            <a:avLst/>
          </a:prstGeom>
          <a:solidFill>
            <a:srgbClr val="E2C97A">
              <a:alpha val="32000"/>
            </a:srgbClr>
          </a:solidFill>
          <a:ln w="12700">
            <a:solidFill>
              <a:srgbClr val="E2C97A">
                <a:alpha val="24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850" dirty="0">
              <a:solidFill>
                <a:schemeClr val="accent3"/>
              </a:solidFill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794760" y="1298448"/>
            <a:ext cx="1554480" cy="3474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1389888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</a:t>
            </a:r>
            <a:endParaRPr lang="en-US" sz="5800" dirty="0"/>
          </a:p>
        </p:txBody>
      </p:sp>
      <p:sp>
        <p:nvSpPr>
          <p:cNvPr id="53" name="Text 50"/>
          <p:cNvSpPr/>
          <p:nvPr/>
        </p:nvSpPr>
        <p:spPr>
          <a:xfrm>
            <a:off x="274320" y="2395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USER EXPERIENCE</a:t>
            </a:r>
            <a:endParaRPr lang="en-US" sz="3000" dirty="0">
              <a:solidFill>
                <a:schemeClr val="accent3"/>
              </a:solidFill>
            </a:endParaRPr>
          </a:p>
        </p:txBody>
      </p:sp>
      <p:sp>
        <p:nvSpPr>
          <p:cNvPr id="54" name="Text 5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all AI systems into a seamless real-world application.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926080" y="3520440"/>
            <a:ext cx="3291840" cy="27432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— AI Agricultural Intelligence System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9" name="Shape 7"/>
          <p:cNvSpPr/>
          <p:nvPr/>
        </p:nvSpPr>
        <p:spPr>
          <a:xfrm>
            <a:off x="1463040" y="428670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24281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419892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416088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5808" y="416088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413162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413162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1E3D24">
              <a:alpha val="32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1E3D24">
              <a:alpha val="26000"/>
            </a:srgbClr>
          </a:solidFill>
          <a:ln w="12700">
            <a:solidFill>
              <a:srgbClr val="1E3D24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91614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  ·  FEATURES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 &amp; Authentication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36045" y="814004"/>
            <a:ext cx="1463040" cy="34747"/>
          </a:xfrm>
          <a:prstGeom prst="rect">
            <a:avLst/>
          </a:prstGeom>
          <a:solidFill>
            <a:schemeClr val="accent2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111029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complete platform connecting every FLORA capability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08540" y="1442941"/>
            <a:ext cx="5074920" cy="56692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7A5A1E">
                <a:alpha val="3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9980" y="1534381"/>
            <a:ext cx="384048" cy="384048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1188" y="1516093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1188" y="1762981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landing page introducing FLORA with a clean interface.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8540" y="2083021"/>
            <a:ext cx="5074920" cy="56692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7A5A1E">
                <a:alpha val="3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9980" y="2174461"/>
            <a:ext cx="384048" cy="384048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1188" y="2156173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1188" y="2403061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signup with full form validation and user account creation.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8540" y="2723101"/>
            <a:ext cx="5074920" cy="56692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7A5A1E">
                <a:alpha val="3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9980" y="2814541"/>
            <a:ext cx="384048" cy="384048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1188" y="2796253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1188" y="3043141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email confirmation for security — no unverified access.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8540" y="3363181"/>
            <a:ext cx="5074920" cy="56692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7A5A1E">
                <a:alpha val="3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980" y="3454621"/>
            <a:ext cx="384048" cy="384048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1188" y="3436333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1188" y="3683221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ensuring protected, secure user sessions.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8540" y="4003261"/>
            <a:ext cx="5074920" cy="566928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7A5A1E">
                <a:alpha val="3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9980" y="4094701"/>
            <a:ext cx="384048" cy="384048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188" y="4076413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21188" y="4323301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password recovery flow via secure email link verification.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24128" y="44439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24128" y="46908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852160" y="26106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solidFill>
            <a:srgbClr val="0A1A0D">
              <a:alpha val="80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1E3D24">
              <a:alpha val="58000"/>
            </a:srgbClr>
          </a:solidFill>
          <a:ln w="12700">
            <a:solidFill>
              <a:srgbClr val="1E3D2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Image 0" descr="/home/claude/imgs/web.jpg"/>
          <p:cNvPicPr>
            <a:picLocks noChangeAspect="1"/>
          </p:cNvPicPr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0136" y="-832104"/>
            <a:ext cx="4389120" cy="3291840"/>
          </a:xfrm>
          <a:prstGeom prst="ellipse">
            <a:avLst/>
          </a:prstGeom>
          <a:solidFill>
            <a:srgbClr val="1E3D24">
              <a:alpha val="3000"/>
            </a:srgbClr>
          </a:solidFill>
          <a:ln w="12700">
            <a:solidFill>
              <a:srgbClr val="1E3D24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4845" y="-697687"/>
            <a:ext cx="3986784" cy="2990088"/>
          </a:xfrm>
          <a:prstGeom prst="ellipse">
            <a:avLst/>
          </a:prstGeom>
          <a:solidFill>
            <a:srgbClr val="1E3D24">
              <a:alpha val="6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29554" y="-563270"/>
            <a:ext cx="3584448" cy="2688336"/>
          </a:xfrm>
          <a:prstGeom prst="ellipse">
            <a:avLst/>
          </a:prstGeom>
          <a:solidFill>
            <a:srgbClr val="1E3D24">
              <a:alpha val="9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4262" y="-428854"/>
            <a:ext cx="3182112" cy="2386584"/>
          </a:xfrm>
          <a:prstGeom prst="ellipse">
            <a:avLst/>
          </a:prstGeom>
          <a:solidFill>
            <a:srgbClr val="1E3D24">
              <a:alpha val="12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98971" y="-294437"/>
            <a:ext cx="2779776" cy="2084832"/>
          </a:xfrm>
          <a:prstGeom prst="ellipse">
            <a:avLst/>
          </a:prstGeom>
          <a:solidFill>
            <a:srgbClr val="1E3D24">
              <a:alpha val="15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-160020"/>
            <a:ext cx="2377440" cy="1783080"/>
          </a:xfrm>
          <a:prstGeom prst="ellipse">
            <a:avLst/>
          </a:prstGeom>
          <a:solidFill>
            <a:srgbClr val="1E3D24">
              <a:alpha val="18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91614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  ·  DEMONSTRATION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66365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Navigation &amp; Authentication Demo</a:t>
            </a:r>
            <a:endParaRPr lang="en-US" sz="2900" dirty="0"/>
          </a:p>
        </p:txBody>
      </p:sp>
      <p:sp>
        <p:nvSpPr>
          <p:cNvPr id="22" name="Shape 19"/>
          <p:cNvSpPr/>
          <p:nvPr/>
        </p:nvSpPr>
        <p:spPr>
          <a:xfrm>
            <a:off x="457200" y="777844"/>
            <a:ext cx="1463040" cy="34747"/>
          </a:xfrm>
          <a:prstGeom prst="rect">
            <a:avLst/>
          </a:prstGeom>
          <a:solidFill>
            <a:schemeClr val="accent2"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5747" y="840265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walkthrough — live from the running application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47777" y="1158755"/>
            <a:ext cx="7623075" cy="3714927"/>
          </a:xfrm>
          <a:prstGeom prst="rect">
            <a:avLst/>
          </a:prstGeom>
          <a:solidFill>
            <a:srgbClr val="040C05">
              <a:alpha val="95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98264" y="26106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85800" y="3095244"/>
            <a:ext cx="7754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85800" y="3461004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0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forest.jp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371600"/>
            <a:ext cx="7315200" cy="6858000"/>
          </a:xfrm>
          <a:prstGeom prst="ellipse">
            <a:avLst/>
          </a:prstGeom>
          <a:solidFill>
            <a:srgbClr val="0A1A0D">
              <a:alpha val="78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0" y="-914400"/>
            <a:ext cx="7315200" cy="6858000"/>
          </a:xfrm>
          <a:prstGeom prst="ellipse">
            <a:avLst/>
          </a:prstGeom>
          <a:solidFill>
            <a:srgbClr val="0A1A0D">
              <a:alpha val="72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1016" y="105156"/>
            <a:ext cx="6766560" cy="5074920"/>
          </a:xfrm>
          <a:prstGeom prst="ellipse">
            <a:avLst/>
          </a:prstGeom>
          <a:solidFill>
            <a:srgbClr val="6E9B7A">
              <a:alpha val="9000"/>
            </a:srgbClr>
          </a:solidFill>
          <a:ln w="12700">
            <a:solidFill>
              <a:srgbClr val="6E9B7A">
                <a:alpha val="2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55725" y="239573"/>
            <a:ext cx="6364224" cy="4773168"/>
          </a:xfrm>
          <a:prstGeom prst="ellipse">
            <a:avLst/>
          </a:prstGeom>
          <a:solidFill>
            <a:srgbClr val="6E9B7A">
              <a:alpha val="12000"/>
            </a:srgbClr>
          </a:solidFill>
          <a:ln w="12700">
            <a:solidFill>
              <a:srgbClr val="6E9B7A">
                <a:alpha val="2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0434" y="373990"/>
            <a:ext cx="5961888" cy="4471416"/>
          </a:xfrm>
          <a:prstGeom prst="ellipse">
            <a:avLst/>
          </a:prstGeom>
          <a:solidFill>
            <a:srgbClr val="6E9B7A">
              <a:alpha val="15000"/>
            </a:srgbClr>
          </a:solidFill>
          <a:ln w="12700">
            <a:solidFill>
              <a:srgbClr val="6E9B7A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5142" y="508406"/>
            <a:ext cx="5559552" cy="4169664"/>
          </a:xfrm>
          <a:prstGeom prst="ellipse">
            <a:avLst/>
          </a:prstGeom>
          <a:solidFill>
            <a:srgbClr val="6E9B7A">
              <a:alpha val="18000"/>
            </a:srgbClr>
          </a:solidFill>
          <a:ln w="12700">
            <a:solidFill>
              <a:srgbClr val="6E9B7A">
                <a:alpha val="3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9851" y="642823"/>
            <a:ext cx="5157216" cy="3867912"/>
          </a:xfrm>
          <a:prstGeom prst="ellipse">
            <a:avLst/>
          </a:prstGeom>
          <a:solidFill>
            <a:srgbClr val="6E9B7A">
              <a:alpha val="21000"/>
            </a:srgbClr>
          </a:solidFill>
          <a:ln w="12700">
            <a:solidFill>
              <a:srgbClr val="6E9B7A">
                <a:alpha val="3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777240"/>
            <a:ext cx="4754880" cy="3566160"/>
          </a:xfrm>
          <a:prstGeom prst="ellipse">
            <a:avLst/>
          </a:prstGeom>
          <a:solidFill>
            <a:srgbClr val="6E9B7A">
              <a:alpha val="24000"/>
            </a:srgbClr>
          </a:solidFill>
          <a:ln w="12700">
            <a:solidFill>
              <a:srgbClr val="6E9B7A">
                <a:alpha val="3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68296" y="928116"/>
            <a:ext cx="4572000" cy="3429000"/>
          </a:xfrm>
          <a:prstGeom prst="ellipse">
            <a:avLst/>
          </a:prstGeom>
          <a:solidFill>
            <a:srgbClr val="6E9B7A">
              <a:alpha val="3000"/>
            </a:srgbClr>
          </a:solidFill>
          <a:ln w="12700">
            <a:solidFill>
              <a:srgbClr val="6E9B7A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3005" y="1062533"/>
            <a:ext cx="4169664" cy="3127248"/>
          </a:xfrm>
          <a:prstGeom prst="ellipse">
            <a:avLst/>
          </a:prstGeom>
          <a:solidFill>
            <a:srgbClr val="6E9B7A">
              <a:alpha val="6000"/>
            </a:srgbClr>
          </a:solidFill>
          <a:ln w="12700">
            <a:solidFill>
              <a:srgbClr val="6E9B7A">
                <a:alpha val="2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37714" y="1196950"/>
            <a:ext cx="3767328" cy="2825496"/>
          </a:xfrm>
          <a:prstGeom prst="ellipse">
            <a:avLst/>
          </a:prstGeom>
          <a:solidFill>
            <a:srgbClr val="6E9B7A">
              <a:alpha val="9000"/>
            </a:srgbClr>
          </a:solidFill>
          <a:ln w="12700">
            <a:solidFill>
              <a:srgbClr val="6E9B7A">
                <a:alpha val="2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22422" y="1331366"/>
            <a:ext cx="3364992" cy="2523744"/>
          </a:xfrm>
          <a:prstGeom prst="ellipse">
            <a:avLst/>
          </a:prstGeom>
          <a:solidFill>
            <a:srgbClr val="6E9B7A">
              <a:alpha val="12000"/>
            </a:srgbClr>
          </a:solidFill>
          <a:ln w="12700">
            <a:solidFill>
              <a:srgbClr val="6E9B7A">
                <a:alpha val="2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7131" y="1465783"/>
            <a:ext cx="2962656" cy="2221992"/>
          </a:xfrm>
          <a:prstGeom prst="ellipse">
            <a:avLst/>
          </a:prstGeom>
          <a:solidFill>
            <a:srgbClr val="6E9B7A">
              <a:alpha val="15000"/>
            </a:srgbClr>
          </a:solidFill>
          <a:ln w="12700">
            <a:solidFill>
              <a:srgbClr val="6E9B7A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1600200"/>
            <a:ext cx="2560320" cy="1920240"/>
          </a:xfrm>
          <a:prstGeom prst="ellipse">
            <a:avLst/>
          </a:prstGeom>
          <a:solidFill>
            <a:srgbClr val="6E9B7A">
              <a:alpha val="18000"/>
            </a:srgbClr>
          </a:solidFill>
          <a:ln w="12700">
            <a:solidFill>
              <a:srgbClr val="6E9B7A">
                <a:alpha val="3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3840480"/>
            <a:ext cx="4114800" cy="0"/>
          </a:xfrm>
          <a:prstGeom prst="line">
            <a:avLst/>
          </a:prstGeom>
          <a:noFill/>
          <a:ln w="12700">
            <a:solidFill>
              <a:srgbClr val="3E6649">
                <a:alpha val="17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28800" y="376732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0" y="376732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14600" y="371246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14600" y="371246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0" y="365760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0" y="365760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86200" y="360273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86200" y="360273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80560" y="355518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0" y="355518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0" y="351861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351861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7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57600" y="914400"/>
            <a:ext cx="3291840" cy="0"/>
          </a:xfrm>
          <a:prstGeom prst="line">
            <a:avLst/>
          </a:prstGeom>
          <a:noFill/>
          <a:ln w="12700">
            <a:solidFill>
              <a:srgbClr val="3E6649">
                <a:alpha val="1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89120" y="855878"/>
            <a:ext cx="526694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89120" y="855878"/>
            <a:ext cx="526694" cy="21067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37760" y="811987"/>
            <a:ext cx="482803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37760" y="811987"/>
            <a:ext cx="482803" cy="193121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86400" y="768096"/>
            <a:ext cx="43891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0" y="768096"/>
            <a:ext cx="438912" cy="175565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0" y="724205"/>
            <a:ext cx="3950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35040" y="724205"/>
            <a:ext cx="395021" cy="15800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10528" y="686166"/>
            <a:ext cx="356982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10528" y="686166"/>
            <a:ext cx="356982" cy="142793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76288" y="656905"/>
            <a:ext cx="32772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76288" y="656905"/>
            <a:ext cx="327721" cy="131088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1500000">
            <a:off x="-457200" y="-274320"/>
            <a:ext cx="2011680" cy="731520"/>
          </a:xfrm>
          <a:prstGeom prst="ellipse">
            <a:avLst/>
          </a:prstGeom>
          <a:solidFill>
            <a:srgbClr val="6E9B7A">
              <a:alpha val="40000"/>
            </a:srgbClr>
          </a:solidFill>
          <a:ln w="12700">
            <a:solidFill>
              <a:srgbClr val="6E9B7A">
                <a:alpha val="32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-2880000">
            <a:off x="-182880" y="-457200"/>
            <a:ext cx="1554480" cy="548640"/>
          </a:xfrm>
          <a:prstGeom prst="ellipse">
            <a:avLst/>
          </a:prstGeom>
          <a:solidFill>
            <a:srgbClr val="6E9B7A">
              <a:alpha val="32000"/>
            </a:srgbClr>
          </a:solidFill>
          <a:ln w="12700">
            <a:solidFill>
              <a:srgbClr val="6E9B7A">
                <a:alpha val="24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9300000">
            <a:off x="7589520" y="4389120"/>
            <a:ext cx="2011680" cy="731520"/>
          </a:xfrm>
          <a:prstGeom prst="ellipse">
            <a:avLst/>
          </a:prstGeom>
          <a:solidFill>
            <a:srgbClr val="6E9B7A">
              <a:alpha val="40000"/>
            </a:srgbClr>
          </a:solidFill>
          <a:ln w="12700">
            <a:solidFill>
              <a:srgbClr val="6E9B7A">
                <a:alpha val="32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rot="7920000">
            <a:off x="7772400" y="4251960"/>
            <a:ext cx="1554480" cy="548640"/>
          </a:xfrm>
          <a:prstGeom prst="ellipse">
            <a:avLst/>
          </a:prstGeom>
          <a:solidFill>
            <a:srgbClr val="6E9B7A">
              <a:alpha val="32000"/>
            </a:srgbClr>
          </a:solidFill>
          <a:ln w="12700">
            <a:solidFill>
              <a:srgbClr val="6E9B7A">
                <a:alpha val="24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05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794760" y="1298448"/>
            <a:ext cx="1554480" cy="34747"/>
          </a:xfrm>
          <a:prstGeom prst="rect">
            <a:avLst/>
          </a:prstGeom>
          <a:solidFill>
            <a:srgbClr val="C9A84C">
              <a:alpha val="7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794760" y="1298448"/>
            <a:ext cx="201168" cy="34747"/>
          </a:xfrm>
          <a:prstGeom prst="rect">
            <a:avLst/>
          </a:prstGeom>
          <a:solidFill>
            <a:srgbClr val="C9A84C">
              <a:alpha val="9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1389888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500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5800" dirty="0"/>
          </a:p>
        </p:txBody>
      </p:sp>
      <p:sp>
        <p:nvSpPr>
          <p:cNvPr id="53" name="Text 50"/>
          <p:cNvSpPr/>
          <p:nvPr/>
        </p:nvSpPr>
        <p:spPr>
          <a:xfrm>
            <a:off x="274320" y="2395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CHAT EXPERIENCE</a:t>
            </a:r>
            <a:endParaRPr lang="en-US" sz="3000" dirty="0"/>
          </a:p>
        </p:txBody>
      </p:sp>
      <p:sp>
        <p:nvSpPr>
          <p:cNvPr id="54" name="Text 51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how users interact with FLORA in real time.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926080" y="3520440"/>
            <a:ext cx="3291840" cy="27432"/>
          </a:xfrm>
          <a:prstGeom prst="rect">
            <a:avLst/>
          </a:prstGeom>
          <a:solidFill>
            <a:srgbClr val="C9A84C">
              <a:alpha val="72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0" y="4736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— AI Agricultural Intelligence System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43016" y="2962656"/>
            <a:ext cx="4023360" cy="3017520"/>
          </a:xfrm>
          <a:prstGeom prst="ellipse">
            <a:avLst/>
          </a:prstGeom>
          <a:solidFill>
            <a:srgbClr val="1E3D24">
              <a:alpha val="3000"/>
            </a:srgbClr>
          </a:solidFill>
          <a:ln w="12700">
            <a:solidFill>
              <a:srgbClr val="1E3D2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7725" y="3097073"/>
            <a:ext cx="3621024" cy="2715768"/>
          </a:xfrm>
          <a:prstGeom prst="ellipse">
            <a:avLst/>
          </a:prstGeom>
          <a:solidFill>
            <a:srgbClr val="1E3D24">
              <a:alpha val="6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2434" y="3231490"/>
            <a:ext cx="3218688" cy="2414016"/>
          </a:xfrm>
          <a:prstGeom prst="ellipse">
            <a:avLst/>
          </a:prstGeom>
          <a:solidFill>
            <a:srgbClr val="1E3D24">
              <a:alpha val="9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142" y="3365906"/>
            <a:ext cx="2816352" cy="2112264"/>
          </a:xfrm>
          <a:prstGeom prst="ellipse">
            <a:avLst/>
          </a:prstGeom>
          <a:solidFill>
            <a:srgbClr val="1E3D24">
              <a:alpha val="12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1851" y="3500323"/>
            <a:ext cx="2414016" cy="1810512"/>
          </a:xfrm>
          <a:prstGeom prst="ellipse">
            <a:avLst/>
          </a:prstGeom>
          <a:solidFill>
            <a:srgbClr val="1E3D24">
              <a:alpha val="15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3634740"/>
            <a:ext cx="2011680" cy="1508760"/>
          </a:xfrm>
          <a:prstGeom prst="ellipse">
            <a:avLst/>
          </a:prstGeom>
          <a:solidFill>
            <a:srgbClr val="1E3D24">
              <a:alpha val="18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49884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49884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444398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444398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438912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438912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4334256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4334256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4286707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4286707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4250131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4250131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1614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 ·  INTERACTION WORKFLOW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Workflow</a:t>
            </a:r>
            <a:endParaRPr lang="en-US" sz="2900" dirty="0"/>
          </a:p>
        </p:txBody>
      </p:sp>
      <p:sp>
        <p:nvSpPr>
          <p:cNvPr id="33" name="Shape 31"/>
          <p:cNvSpPr/>
          <p:nvPr/>
        </p:nvSpPr>
        <p:spPr>
          <a:xfrm>
            <a:off x="557784" y="783851"/>
            <a:ext cx="1463040" cy="34747"/>
          </a:xfrm>
          <a:prstGeom prst="rect">
            <a:avLst/>
          </a:prstGeom>
          <a:solidFill>
            <a:schemeClr val="accent1">
              <a:lumMod val="40000"/>
              <a:lumOff val="60000"/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300" y="85587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image capture to continued AI-powered guidance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84048" y="1170432"/>
            <a:ext cx="2724912" cy="1783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1170432"/>
            <a:ext cx="45720" cy="178308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1170432"/>
            <a:ext cx="2724912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" y="1307592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1307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8872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1208" y="1828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plant leaf photo to FLORA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236976" y="1170432"/>
            <a:ext cx="2724912" cy="1783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6976" y="1170432"/>
            <a:ext cx="45720" cy="178308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36976" y="1170432"/>
            <a:ext cx="2724912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46704" y="1307592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1307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041648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374136" y="1828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processes and classifies the image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089904" y="1170432"/>
            <a:ext cx="2724912" cy="1783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9904" y="1170432"/>
            <a:ext cx="45720" cy="1783080"/>
          </a:xfrm>
          <a:prstGeom prst="rect">
            <a:avLst/>
          </a:prstGeom>
          <a:solidFill>
            <a:srgbClr val="E2C97A">
              <a:alpha val="88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9904" y="1170432"/>
            <a:ext cx="2724912" cy="36576"/>
          </a:xfrm>
          <a:prstGeom prst="rect">
            <a:avLst/>
          </a:prstGeom>
          <a:solidFill>
            <a:srgbClr val="E2C97A">
              <a:alpha val="65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9632" y="1307592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E2C97A">
                <a:alpha val="5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1307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894576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Result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27064" y="1828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displayed clearly to the user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84048" y="3039499"/>
            <a:ext cx="2724912" cy="1783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048" y="3039499"/>
            <a:ext cx="45720" cy="1783080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" y="3039499"/>
            <a:ext cx="2724912" cy="36576"/>
          </a:xfrm>
          <a:prstGeom prst="rect">
            <a:avLst/>
          </a:prstGeom>
          <a:solidFill>
            <a:srgbClr val="C9A84C">
              <a:alpha val="65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" y="3176659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3176659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188720" y="322237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Opens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21208" y="3697867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introduces and explains the condition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236976" y="3039499"/>
            <a:ext cx="2724912" cy="1783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6E9B7A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36976" y="3039499"/>
            <a:ext cx="45720" cy="1783080"/>
          </a:xfrm>
          <a:prstGeom prst="rect">
            <a:avLst/>
          </a:prstGeom>
          <a:solidFill>
            <a:srgbClr val="6E9B7A">
              <a:alpha val="88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36976" y="3039499"/>
            <a:ext cx="2724912" cy="36576"/>
          </a:xfrm>
          <a:prstGeom prst="rect">
            <a:avLst/>
          </a:prstGeom>
          <a:solidFill>
            <a:srgbClr val="6E9B7A">
              <a:alpha val="65000"/>
            </a:srgbClr>
          </a:solidFill>
          <a:ln w="12700">
            <a:solidFill>
              <a:srgbClr val="6E9B7A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46704" y="3176659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6E9B7A">
                <a:alpha val="58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46704" y="3176659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041648" y="322237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3374136" y="3697867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Arabic treatment guidance provided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089904" y="3039499"/>
            <a:ext cx="2724912" cy="1783080"/>
          </a:xfrm>
          <a:prstGeom prst="rect">
            <a:avLst/>
          </a:prstGeom>
          <a:solidFill>
            <a:srgbClr val="030A04">
              <a:alpha val="85000"/>
            </a:srgbClr>
          </a:solidFill>
          <a:ln w="12700">
            <a:solidFill>
              <a:srgbClr val="E2C97A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89904" y="3039499"/>
            <a:ext cx="45720" cy="1783080"/>
          </a:xfrm>
          <a:prstGeom prst="rect">
            <a:avLst/>
          </a:prstGeom>
          <a:solidFill>
            <a:srgbClr val="E2C97A">
              <a:alpha val="88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89904" y="3039499"/>
            <a:ext cx="2724912" cy="36576"/>
          </a:xfrm>
          <a:prstGeom prst="rect">
            <a:avLst/>
          </a:prstGeom>
          <a:solidFill>
            <a:srgbClr val="E2C97A">
              <a:alpha val="65000"/>
            </a:srgbClr>
          </a:solidFill>
          <a:ln w="12700">
            <a:solidFill>
              <a:srgbClr val="E2C97A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99632" y="3176659"/>
            <a:ext cx="566928" cy="566928"/>
          </a:xfrm>
          <a:prstGeom prst="ellipse">
            <a:avLst/>
          </a:prstGeom>
          <a:solidFill>
            <a:srgbClr val="1E3D24">
              <a:alpha val="82000"/>
            </a:srgbClr>
          </a:solidFill>
          <a:ln w="12700">
            <a:solidFill>
              <a:srgbClr val="E2C97A">
                <a:alpha val="58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99632" y="3176659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894576" y="322237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227064" y="3697867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additional questions for further help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D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7315200" cy="6400800"/>
          </a:xfrm>
          <a:prstGeom prst="ellipse">
            <a:avLst/>
          </a:prstGeom>
          <a:solidFill>
            <a:srgbClr val="0A1A0D">
              <a:alpha val="80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7315200" cy="5943600"/>
          </a:xfrm>
          <a:prstGeom prst="ellipse">
            <a:avLst/>
          </a:prstGeom>
          <a:solidFill>
            <a:srgbClr val="0A1A0D">
              <a:alpha val="75000"/>
            </a:srgbClr>
          </a:solidFill>
          <a:ln w="12700">
            <a:solidFill>
              <a:srgbClr val="0A1A0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1E3D24">
              <a:alpha val="58000"/>
            </a:srgbClr>
          </a:solidFill>
          <a:ln w="12700">
            <a:solidFill>
              <a:srgbClr val="1E3D2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Image 0" descr="/home/claude/imgs/forest.jp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8" name="Shape 5"/>
          <p:cNvSpPr/>
          <p:nvPr/>
        </p:nvSpPr>
        <p:spPr>
          <a:xfrm>
            <a:off x="-649224" y="-763524"/>
            <a:ext cx="4206240" cy="3154680"/>
          </a:xfrm>
          <a:prstGeom prst="ellipse">
            <a:avLst/>
          </a:prstGeom>
          <a:solidFill>
            <a:srgbClr val="1E3D24">
              <a:alpha val="3000"/>
            </a:srgbClr>
          </a:solidFill>
          <a:ln w="12700">
            <a:solidFill>
              <a:srgbClr val="1E3D24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-464515" y="-629107"/>
            <a:ext cx="3803904" cy="2852928"/>
          </a:xfrm>
          <a:prstGeom prst="ellipse">
            <a:avLst/>
          </a:prstGeom>
          <a:solidFill>
            <a:srgbClr val="1E3D24">
              <a:alpha val="6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-279806" y="-494690"/>
            <a:ext cx="3401568" cy="2551176"/>
          </a:xfrm>
          <a:prstGeom prst="ellipse">
            <a:avLst/>
          </a:prstGeom>
          <a:solidFill>
            <a:srgbClr val="1E3D24">
              <a:alpha val="9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-95098" y="-360274"/>
            <a:ext cx="2999232" cy="2249424"/>
          </a:xfrm>
          <a:prstGeom prst="ellipse">
            <a:avLst/>
          </a:prstGeom>
          <a:solidFill>
            <a:srgbClr val="1E3D24">
              <a:alpha val="12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" y="-225857"/>
            <a:ext cx="2596896" cy="1947672"/>
          </a:xfrm>
          <a:prstGeom prst="ellipse">
            <a:avLst/>
          </a:prstGeom>
          <a:solidFill>
            <a:srgbClr val="1E3D24">
              <a:alpha val="15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-91440"/>
            <a:ext cx="2194560" cy="1645920"/>
          </a:xfrm>
          <a:prstGeom prst="ellipse">
            <a:avLst/>
          </a:prstGeom>
          <a:solidFill>
            <a:srgbClr val="1E3D24">
              <a:alpha val="18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-1680000">
            <a:off x="-347472" y="-25603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-3120000">
            <a:off x="-164592" y="-384048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9120000">
            <a:off x="8165592" y="4462272"/>
            <a:ext cx="1325880" cy="530352"/>
          </a:xfrm>
          <a:prstGeom prst="ellipse">
            <a:avLst/>
          </a:prstGeom>
          <a:solidFill>
            <a:srgbClr val="3E6649">
              <a:alpha val="32000"/>
            </a:srgbClr>
          </a:solidFill>
          <a:ln w="12700">
            <a:solidFill>
              <a:srgbClr val="3E6649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7680000">
            <a:off x="8348472" y="4325112"/>
            <a:ext cx="960120" cy="4114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91614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 ·  Helwan University  ·  Faculty of Science  ·  Statistics &amp; Computer Science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109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 ·  LIVE DEMONSTRATION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1162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Chatbot Live Demonstration</a:t>
            </a:r>
            <a:endParaRPr lang="en-US" sz="2900" dirty="0"/>
          </a:p>
        </p:txBody>
      </p:sp>
      <p:sp>
        <p:nvSpPr>
          <p:cNvPr id="22" name="Shape 19"/>
          <p:cNvSpPr/>
          <p:nvPr/>
        </p:nvSpPr>
        <p:spPr>
          <a:xfrm>
            <a:off x="557784" y="674841"/>
            <a:ext cx="1463040" cy="34747"/>
          </a:xfrm>
          <a:prstGeom prst="rect">
            <a:avLst/>
          </a:prstGeom>
          <a:solidFill>
            <a:schemeClr val="accent1">
              <a:lumMod val="40000"/>
              <a:lumOff val="60000"/>
              <a:alpha val="78000"/>
            </a:scheme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275" y="736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demonstration — upload, detect, chat, treat</a:t>
            </a:r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4398264" y="26106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85800" y="3095244"/>
            <a:ext cx="7754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85800" y="3461004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6F1DC778-D9F4-5C3C-7467-2F1C2496D6DC}"/>
              </a:ext>
            </a:extLst>
          </p:cNvPr>
          <p:cNvSpPr/>
          <p:nvPr/>
        </p:nvSpPr>
        <p:spPr>
          <a:xfrm>
            <a:off x="773149" y="1049202"/>
            <a:ext cx="7203337" cy="3820140"/>
          </a:xfrm>
          <a:prstGeom prst="rect">
            <a:avLst/>
          </a:prstGeom>
          <a:solidFill>
            <a:srgbClr val="040C05">
              <a:alpha val="95000"/>
            </a:srgbClr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0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forest.jpg"/>
          <p:cNvPicPr>
            <a:picLocks noChangeAspect="1"/>
          </p:cNvPicPr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2286000" y="-1371600"/>
            <a:ext cx="8229600" cy="73152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5" name="Shape 2"/>
          <p:cNvSpPr/>
          <p:nvPr/>
        </p:nvSpPr>
        <p:spPr>
          <a:xfrm>
            <a:off x="4114800" y="-914400"/>
            <a:ext cx="8229600" cy="685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6" name="Shape 3"/>
          <p:cNvSpPr/>
          <p:nvPr/>
        </p:nvSpPr>
        <p:spPr>
          <a:xfrm>
            <a:off x="-1472184" y="-1175004"/>
            <a:ext cx="5303520" cy="3977640"/>
          </a:xfrm>
          <a:prstGeom prst="ellipse">
            <a:avLst/>
          </a:prstGeom>
          <a:solidFill>
            <a:srgbClr val="3E6649">
              <a:alpha val="11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1287475" y="-1040587"/>
            <a:ext cx="4901184" cy="3675888"/>
          </a:xfrm>
          <a:prstGeom prst="ellipse">
            <a:avLst/>
          </a:prstGeom>
          <a:solidFill>
            <a:srgbClr val="3E6649">
              <a:alpha val="14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-1102766" y="-906170"/>
            <a:ext cx="4498848" cy="3374136"/>
          </a:xfrm>
          <a:prstGeom prst="ellipse">
            <a:avLst/>
          </a:prstGeom>
          <a:solidFill>
            <a:srgbClr val="3E6649">
              <a:alpha val="17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-918058" y="-771754"/>
            <a:ext cx="4096512" cy="3072384"/>
          </a:xfrm>
          <a:prstGeom prst="ellipse">
            <a:avLst/>
          </a:prstGeom>
          <a:solidFill>
            <a:srgbClr val="3E6649">
              <a:alpha val="20000"/>
            </a:srgbClr>
          </a:solidFill>
          <a:ln w="12700">
            <a:solidFill>
              <a:srgbClr val="3E6649">
                <a:alpha val="3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-733349" y="-637337"/>
            <a:ext cx="3694176" cy="2770632"/>
          </a:xfrm>
          <a:prstGeom prst="ellipse">
            <a:avLst/>
          </a:prstGeom>
          <a:solidFill>
            <a:srgbClr val="3E6649">
              <a:alpha val="23000"/>
            </a:srgbClr>
          </a:solidFill>
          <a:ln w="12700">
            <a:solidFill>
              <a:srgbClr val="3E6649">
                <a:alpha val="36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-548640" y="-502920"/>
            <a:ext cx="3291840" cy="2468880"/>
          </a:xfrm>
          <a:prstGeom prst="ellipse">
            <a:avLst/>
          </a:prstGeom>
          <a:solidFill>
            <a:srgbClr val="3E6649">
              <a:alpha val="26000"/>
            </a:srgbClr>
          </a:solidFill>
          <a:ln w="12700">
            <a:solidFill>
              <a:srgbClr val="3E6649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51576" y="2688336"/>
            <a:ext cx="4754880" cy="3566160"/>
          </a:xfrm>
          <a:prstGeom prst="ellipse">
            <a:avLst/>
          </a:prstGeom>
          <a:solidFill>
            <a:srgbClr val="3E6649">
              <a:alpha val="9000"/>
            </a:srgbClr>
          </a:solidFill>
          <a:ln w="12700">
            <a:solidFill>
              <a:srgbClr val="3E6649">
                <a:alpha val="2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36285" y="2822753"/>
            <a:ext cx="4352544" cy="3264408"/>
          </a:xfrm>
          <a:prstGeom prst="ellipse">
            <a:avLst/>
          </a:prstGeom>
          <a:solidFill>
            <a:srgbClr val="3E6649">
              <a:alpha val="12000"/>
            </a:srgbClr>
          </a:solidFill>
          <a:ln w="12700">
            <a:solidFill>
              <a:srgbClr val="3E6649">
                <a:alpha val="2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0994" y="2957170"/>
            <a:ext cx="3950208" cy="2962656"/>
          </a:xfrm>
          <a:prstGeom prst="ellipse">
            <a:avLst/>
          </a:prstGeom>
          <a:solidFill>
            <a:srgbClr val="3E6649">
              <a:alpha val="15000"/>
            </a:srgbClr>
          </a:solidFill>
          <a:ln w="12700">
            <a:solidFill>
              <a:srgbClr val="3E6649">
                <a:alpha val="3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5702" y="3091586"/>
            <a:ext cx="3547872" cy="2660904"/>
          </a:xfrm>
          <a:prstGeom prst="ellipse">
            <a:avLst/>
          </a:prstGeom>
          <a:solidFill>
            <a:srgbClr val="3E6649">
              <a:alpha val="18000"/>
            </a:srgbClr>
          </a:solidFill>
          <a:ln w="12700">
            <a:solidFill>
              <a:srgbClr val="3E6649">
                <a:alpha val="3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0411" y="3226003"/>
            <a:ext cx="3145536" cy="2359152"/>
          </a:xfrm>
          <a:prstGeom prst="ellipse">
            <a:avLst/>
          </a:prstGeom>
          <a:solidFill>
            <a:srgbClr val="3E6649">
              <a:alpha val="21000"/>
            </a:srgbClr>
          </a:solidFill>
          <a:ln w="12700">
            <a:solidFill>
              <a:srgbClr val="3E6649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0" y="3360420"/>
            <a:ext cx="2743200" cy="2057400"/>
          </a:xfrm>
          <a:prstGeom prst="ellipse">
            <a:avLst/>
          </a:prstGeom>
          <a:solidFill>
            <a:srgbClr val="3E6649">
              <a:alpha val="24000"/>
            </a:srgbClr>
          </a:solidFill>
          <a:ln w="12700">
            <a:solidFill>
              <a:srgbClr val="3E6649">
                <a:alpha val="3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36776" y="2848356"/>
            <a:ext cx="6035040" cy="4526280"/>
          </a:xfrm>
          <a:prstGeom prst="ellipse">
            <a:avLst/>
          </a:prstGeom>
          <a:solidFill>
            <a:srgbClr val="1E3D24">
              <a:alpha val="5000"/>
            </a:srgbClr>
          </a:solidFill>
          <a:ln w="12700">
            <a:solidFill>
              <a:srgbClr val="1E3D24">
                <a:alpha val="22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21485" y="2982773"/>
            <a:ext cx="5632704" cy="4224528"/>
          </a:xfrm>
          <a:prstGeom prst="ellipse">
            <a:avLst/>
          </a:prstGeom>
          <a:solidFill>
            <a:srgbClr val="1E3D24">
              <a:alpha val="8000"/>
            </a:srgbClr>
          </a:solidFill>
          <a:ln w="12700">
            <a:solidFill>
              <a:srgbClr val="1E3D24">
                <a:alpha val="24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06194" y="3117190"/>
            <a:ext cx="5230368" cy="3922776"/>
          </a:xfrm>
          <a:prstGeom prst="ellipse">
            <a:avLst/>
          </a:prstGeom>
          <a:solidFill>
            <a:srgbClr val="1E3D24">
              <a:alpha val="11000"/>
            </a:srgbClr>
          </a:solidFill>
          <a:ln w="12700">
            <a:solidFill>
              <a:srgbClr val="1E3D24">
                <a:alpha val="26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01952" y="3199486"/>
            <a:ext cx="4828032" cy="3621024"/>
          </a:xfrm>
          <a:prstGeom prst="ellipse">
            <a:avLst/>
          </a:prstGeom>
          <a:solidFill>
            <a:srgbClr val="1E3D24">
              <a:alpha val="14000"/>
            </a:srgbClr>
          </a:solidFill>
          <a:ln w="12700">
            <a:solidFill>
              <a:srgbClr val="1E3D24">
                <a:alpha val="2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75611" y="3386023"/>
            <a:ext cx="4425696" cy="3319272"/>
          </a:xfrm>
          <a:prstGeom prst="ellipse">
            <a:avLst/>
          </a:prstGeom>
          <a:solidFill>
            <a:srgbClr val="1E3D24">
              <a:alpha val="17000"/>
            </a:srgbClr>
          </a:solidFill>
          <a:ln w="12700">
            <a:solidFill>
              <a:srgbClr val="1E3D24">
                <a:alpha val="3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9720000">
            <a:off x="7589520" y="-457200"/>
            <a:ext cx="3200400" cy="1097280"/>
          </a:xfrm>
          <a:prstGeom prst="ellipse">
            <a:avLst/>
          </a:prstGeom>
          <a:solidFill>
            <a:srgbClr val="1E3D24">
              <a:alpha val="52000"/>
            </a:srgbClr>
          </a:solidFill>
          <a:ln w="12700">
            <a:solidFill>
              <a:srgbClr val="1E3D24">
                <a:alpha val="44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8520000">
            <a:off x="7863840" y="-182880"/>
            <a:ext cx="2560320" cy="822960"/>
          </a:xfrm>
          <a:prstGeom prst="ellipse">
            <a:avLst/>
          </a:prstGeom>
          <a:solidFill>
            <a:srgbClr val="3E6649">
              <a:alpha val="44000"/>
            </a:srgbClr>
          </a:solidFill>
          <a:ln w="12700">
            <a:solidFill>
              <a:srgbClr val="3E6649">
                <a:alpha val="36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743200" y="182880"/>
            <a:ext cx="4114800" cy="0"/>
          </a:xfrm>
          <a:prstGeom prst="line">
            <a:avLst/>
          </a:prstGeom>
          <a:noFill/>
          <a:ln w="12700">
            <a:solidFill>
              <a:srgbClr val="3E6649">
                <a:alpha val="1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57600" y="109728"/>
            <a:ext cx="658368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657600" y="109728"/>
            <a:ext cx="658368" cy="263347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43400" y="54864"/>
            <a:ext cx="603504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343400" y="54864"/>
            <a:ext cx="603504" cy="241402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29200" y="0"/>
            <a:ext cx="548640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29200" y="0"/>
            <a:ext cx="548640" cy="219456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15000" y="-54864"/>
            <a:ext cx="493776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715000" y="-54864"/>
            <a:ext cx="493776" cy="19751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09360" y="-102413"/>
            <a:ext cx="446227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09360" y="-102413"/>
            <a:ext cx="446227" cy="178491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766560" y="-138989"/>
            <a:ext cx="409651" cy="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66560" y="-138989"/>
            <a:ext cx="409651" cy="163860"/>
          </a:xfrm>
          <a:prstGeom prst="line">
            <a:avLst/>
          </a:prstGeom>
          <a:noFill/>
          <a:ln w="12700">
            <a:solidFill>
              <a:srgbClr val="3E6649">
                <a:alpha val="5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74320" y="384048"/>
            <a:ext cx="85953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0" b="1" kern="0" spc="1000" dirty="0">
                <a:solidFill>
                  <a:srgbClr val="F8F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55" name="Text 52"/>
          <p:cNvSpPr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kern="0" spc="250" dirty="0">
                <a:solidFill>
                  <a:srgbClr val="ED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Ready For Your Questions</a:t>
            </a:r>
            <a:endParaRPr lang="en-US" sz="2200" dirty="0"/>
          </a:p>
        </p:txBody>
      </p:sp>
      <p:sp>
        <p:nvSpPr>
          <p:cNvPr id="56" name="Shape 53"/>
          <p:cNvSpPr/>
          <p:nvPr/>
        </p:nvSpPr>
        <p:spPr>
          <a:xfrm>
            <a:off x="2286000" y="2554750"/>
            <a:ext cx="4572000" cy="34747"/>
          </a:xfrm>
          <a:prstGeom prst="rect">
            <a:avLst/>
          </a:prstGeom>
          <a:solidFill>
            <a:srgbClr val="C9A84C">
              <a:alpha val="78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371600" y="2788920"/>
            <a:ext cx="6400800" cy="1508760"/>
          </a:xfrm>
          <a:prstGeom prst="rect">
            <a:avLst/>
          </a:prstGeom>
          <a:solidFill>
            <a:srgbClr val="030A04">
              <a:alpha val="88000"/>
            </a:srgbClr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536192" y="2880360"/>
            <a:ext cx="607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L  O  R  A</a:t>
            </a:r>
            <a:endParaRPr lang="en-US" sz="3000" dirty="0"/>
          </a:p>
        </p:txBody>
      </p:sp>
      <p:sp>
        <p:nvSpPr>
          <p:cNvPr id="60" name="Text 57"/>
          <p:cNvSpPr/>
          <p:nvPr/>
        </p:nvSpPr>
        <p:spPr>
          <a:xfrm>
            <a:off x="1536192" y="3655906"/>
            <a:ext cx="6071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 —  Helwan University  ·  Statistics &amp; Computer Science Department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536192" y="3929985"/>
            <a:ext cx="6071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Nadia Abdelsamea</a:t>
            </a:r>
            <a:endParaRPr lang="en-US" sz="14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11EDA12-3ADA-A582-9D11-573557064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45" y="3028310"/>
            <a:ext cx="1024024" cy="102632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1016870-184D-910C-3FCD-25E31E3B6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0699" y="2765146"/>
            <a:ext cx="1174554" cy="14688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C6C6C6"/>
      </a:dk1>
      <a:lt1>
        <a:sysClr val="window" lastClr="000000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rgbClr val="000000">
            <a:alpha val="45000"/>
          </a:srgbClr>
        </a:solidFill>
        <a:ln w="12700">
          <a:solidFill>
            <a:srgbClr val="000000">
              <a:alpha val="0"/>
            </a:srgbClr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510</TotalTime>
  <Words>2111</Words>
  <Application>Microsoft Office PowerPoint</Application>
  <PresentationFormat>On-screen Show (16:9)</PresentationFormat>
  <Paragraphs>449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 — AI-Powered Agricultural Assistant</dc:title>
  <dc:subject>PptxGenJS Presentation</dc:subject>
  <dc:creator>PptxGenJS</dc:creator>
  <cp:lastModifiedBy>Sief Osama</cp:lastModifiedBy>
  <cp:revision>10</cp:revision>
  <dcterms:created xsi:type="dcterms:W3CDTF">2026-05-23T23:49:19Z</dcterms:created>
  <dcterms:modified xsi:type="dcterms:W3CDTF">2026-06-13T22:22:09Z</dcterms:modified>
</cp:coreProperties>
</file>